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4" r:id="rId1"/>
  </p:sldMasterIdLst>
  <p:notesMasterIdLst>
    <p:notesMasterId r:id="rId12"/>
  </p:notesMasterIdLst>
  <p:sldIdLst>
    <p:sldId id="256" r:id="rId2"/>
    <p:sldId id="257" r:id="rId3"/>
    <p:sldId id="263" r:id="rId4"/>
    <p:sldId id="259" r:id="rId5"/>
    <p:sldId id="264" r:id="rId6"/>
    <p:sldId id="269" r:id="rId7"/>
    <p:sldId id="267" r:id="rId8"/>
    <p:sldId id="268" r:id="rId9"/>
    <p:sldId id="262" r:id="rId10"/>
    <p:sldId id="261" r:id="rId11"/>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C7E400-6DF2-49A0-AC1A-3D0A64070ED0}" v="6" dt="2025-08-13T14:22:08.7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 Varshini C" userId="25a8cfa47b96a522" providerId="LiveId" clId="{45C7E400-6DF2-49A0-AC1A-3D0A64070ED0}"/>
    <pc:docChg chg="undo custSel modSld">
      <pc:chgData name="Sri Varshini C" userId="25a8cfa47b96a522" providerId="LiveId" clId="{45C7E400-6DF2-49A0-AC1A-3D0A64070ED0}" dt="2025-08-13T14:27:12.832" v="77" actId="207"/>
      <pc:docMkLst>
        <pc:docMk/>
      </pc:docMkLst>
      <pc:sldChg chg="modSp mod">
        <pc:chgData name="Sri Varshini C" userId="25a8cfa47b96a522" providerId="LiveId" clId="{45C7E400-6DF2-49A0-AC1A-3D0A64070ED0}" dt="2025-08-13T14:26:23.740" v="73" actId="20577"/>
        <pc:sldMkLst>
          <pc:docMk/>
          <pc:sldMk cId="0" sldId="256"/>
        </pc:sldMkLst>
        <pc:spChg chg="mod">
          <ac:chgData name="Sri Varshini C" userId="25a8cfa47b96a522" providerId="LiveId" clId="{45C7E400-6DF2-49A0-AC1A-3D0A64070ED0}" dt="2025-08-13T14:26:02.297" v="66" actId="1076"/>
          <ac:spMkLst>
            <pc:docMk/>
            <pc:sldMk cId="0" sldId="256"/>
            <ac:spMk id="65" creationId="{00000000-0000-0000-0000-000000000000}"/>
          </ac:spMkLst>
        </pc:spChg>
        <pc:spChg chg="mod">
          <ac:chgData name="Sri Varshini C" userId="25a8cfa47b96a522" providerId="LiveId" clId="{45C7E400-6DF2-49A0-AC1A-3D0A64070ED0}" dt="2025-08-13T14:26:23.740" v="73" actId="20577"/>
          <ac:spMkLst>
            <pc:docMk/>
            <pc:sldMk cId="0" sldId="256"/>
            <ac:spMk id="66" creationId="{00000000-0000-0000-0000-000000000000}"/>
          </ac:spMkLst>
        </pc:spChg>
      </pc:sldChg>
      <pc:sldChg chg="modSp mod">
        <pc:chgData name="Sri Varshini C" userId="25a8cfa47b96a522" providerId="LiveId" clId="{45C7E400-6DF2-49A0-AC1A-3D0A64070ED0}" dt="2025-08-13T14:25:16.692" v="61" actId="1076"/>
        <pc:sldMkLst>
          <pc:docMk/>
          <pc:sldMk cId="0" sldId="257"/>
        </pc:sldMkLst>
        <pc:spChg chg="mod">
          <ac:chgData name="Sri Varshini C" userId="25a8cfa47b96a522" providerId="LiveId" clId="{45C7E400-6DF2-49A0-AC1A-3D0A64070ED0}" dt="2025-08-13T14:25:16.692" v="61" actId="1076"/>
          <ac:spMkLst>
            <pc:docMk/>
            <pc:sldMk cId="0" sldId="257"/>
            <ac:spMk id="68" creationId="{00000000-0000-0000-0000-000000000000}"/>
          </ac:spMkLst>
        </pc:spChg>
      </pc:sldChg>
      <pc:sldChg chg="modSp mod">
        <pc:chgData name="Sri Varshini C" userId="25a8cfa47b96a522" providerId="LiveId" clId="{45C7E400-6DF2-49A0-AC1A-3D0A64070ED0}" dt="2025-08-13T14:25:33.529" v="63" actId="1076"/>
        <pc:sldMkLst>
          <pc:docMk/>
          <pc:sldMk cId="0" sldId="259"/>
        </pc:sldMkLst>
        <pc:spChg chg="mod">
          <ac:chgData name="Sri Varshini C" userId="25a8cfa47b96a522" providerId="LiveId" clId="{45C7E400-6DF2-49A0-AC1A-3D0A64070ED0}" dt="2025-08-13T14:25:33.529" v="63" actId="1076"/>
          <ac:spMkLst>
            <pc:docMk/>
            <pc:sldMk cId="0" sldId="259"/>
            <ac:spMk id="74" creationId="{00000000-0000-0000-0000-000000000000}"/>
          </ac:spMkLst>
        </pc:spChg>
      </pc:sldChg>
      <pc:sldChg chg="modSp mod">
        <pc:chgData name="Sri Varshini C" userId="25a8cfa47b96a522" providerId="LiveId" clId="{45C7E400-6DF2-49A0-AC1A-3D0A64070ED0}" dt="2025-08-13T14:25:25.977" v="62" actId="1076"/>
        <pc:sldMkLst>
          <pc:docMk/>
          <pc:sldMk cId="3676552839" sldId="263"/>
        </pc:sldMkLst>
        <pc:spChg chg="mod">
          <ac:chgData name="Sri Varshini C" userId="25a8cfa47b96a522" providerId="LiveId" clId="{45C7E400-6DF2-49A0-AC1A-3D0A64070ED0}" dt="2025-08-13T14:25:25.977" v="62" actId="1076"/>
          <ac:spMkLst>
            <pc:docMk/>
            <pc:sldMk cId="3676552839" sldId="263"/>
            <ac:spMk id="2" creationId="{06C91FDC-99F6-9BDB-E116-5350CCB7BCAA}"/>
          </ac:spMkLst>
        </pc:spChg>
        <pc:spChg chg="mod">
          <ac:chgData name="Sri Varshini C" userId="25a8cfa47b96a522" providerId="LiveId" clId="{45C7E400-6DF2-49A0-AC1A-3D0A64070ED0}" dt="2025-08-13T14:22:14.629" v="34" actId="2710"/>
          <ac:spMkLst>
            <pc:docMk/>
            <pc:sldMk cId="3676552839" sldId="263"/>
            <ac:spMk id="3" creationId="{CC42BA93-0B64-AC57-383C-28CB64692D41}"/>
          </ac:spMkLst>
        </pc:spChg>
        <pc:spChg chg="mod">
          <ac:chgData name="Sri Varshini C" userId="25a8cfa47b96a522" providerId="LiveId" clId="{45C7E400-6DF2-49A0-AC1A-3D0A64070ED0}" dt="2025-08-13T14:22:15.331" v="35" actId="2710"/>
          <ac:spMkLst>
            <pc:docMk/>
            <pc:sldMk cId="3676552839" sldId="263"/>
            <ac:spMk id="4" creationId="{FD6C66B1-DDBB-A54C-0DBB-FCCEF7608736}"/>
          </ac:spMkLst>
        </pc:spChg>
        <pc:picChg chg="mod">
          <ac:chgData name="Sri Varshini C" userId="25a8cfa47b96a522" providerId="LiveId" clId="{45C7E400-6DF2-49A0-AC1A-3D0A64070ED0}" dt="2025-08-13T14:22:08.472" v="21" actId="1076"/>
          <ac:picMkLst>
            <pc:docMk/>
            <pc:sldMk cId="3676552839" sldId="263"/>
            <ac:picMk id="7" creationId="{4B6BE551-2D04-E222-17EE-4006E64D6372}"/>
          </ac:picMkLst>
        </pc:picChg>
        <pc:picChg chg="mod">
          <ac:chgData name="Sri Varshini C" userId="25a8cfa47b96a522" providerId="LiveId" clId="{45C7E400-6DF2-49A0-AC1A-3D0A64070ED0}" dt="2025-08-13T14:22:08.740" v="22" actId="1076"/>
          <ac:picMkLst>
            <pc:docMk/>
            <pc:sldMk cId="3676552839" sldId="263"/>
            <ac:picMk id="9" creationId="{A1EB9073-0134-3D8A-EC2F-A7E924D11AC6}"/>
          </ac:picMkLst>
        </pc:picChg>
        <pc:picChg chg="mod">
          <ac:chgData name="Sri Varshini C" userId="25a8cfa47b96a522" providerId="LiveId" clId="{45C7E400-6DF2-49A0-AC1A-3D0A64070ED0}" dt="2025-08-13T14:22:07.254" v="20" actId="1076"/>
          <ac:picMkLst>
            <pc:docMk/>
            <pc:sldMk cId="3676552839" sldId="263"/>
            <ac:picMk id="13" creationId="{0470FC00-9251-3030-3EC4-F67F8A19CA15}"/>
          </ac:picMkLst>
        </pc:picChg>
      </pc:sldChg>
      <pc:sldChg chg="modSp mod">
        <pc:chgData name="Sri Varshini C" userId="25a8cfa47b96a522" providerId="LiveId" clId="{45C7E400-6DF2-49A0-AC1A-3D0A64070ED0}" dt="2025-08-13T14:26:50.826" v="75" actId="1076"/>
        <pc:sldMkLst>
          <pc:docMk/>
          <pc:sldMk cId="2902293367" sldId="264"/>
        </pc:sldMkLst>
        <pc:spChg chg="mod">
          <ac:chgData name="Sri Varshini C" userId="25a8cfa47b96a522" providerId="LiveId" clId="{45C7E400-6DF2-49A0-AC1A-3D0A64070ED0}" dt="2025-08-13T14:25:39.821" v="64" actId="1076"/>
          <ac:spMkLst>
            <pc:docMk/>
            <pc:sldMk cId="2902293367" sldId="264"/>
            <ac:spMk id="2" creationId="{7FCB3CBD-B3C8-700B-2A34-70BC7A476076}"/>
          </ac:spMkLst>
        </pc:spChg>
        <pc:spChg chg="mod">
          <ac:chgData name="Sri Varshini C" userId="25a8cfa47b96a522" providerId="LiveId" clId="{45C7E400-6DF2-49A0-AC1A-3D0A64070ED0}" dt="2025-08-13T14:26:50.826" v="75" actId="1076"/>
          <ac:spMkLst>
            <pc:docMk/>
            <pc:sldMk cId="2902293367" sldId="264"/>
            <ac:spMk id="11" creationId="{97371AD0-68E1-CCA4-CF83-B5542F32D7A8}"/>
          </ac:spMkLst>
        </pc:spChg>
      </pc:sldChg>
      <pc:sldChg chg="modSp mod">
        <pc:chgData name="Sri Varshini C" userId="25a8cfa47b96a522" providerId="LiveId" clId="{45C7E400-6DF2-49A0-AC1A-3D0A64070ED0}" dt="2025-08-13T14:24:54.232" v="59" actId="1076"/>
        <pc:sldMkLst>
          <pc:docMk/>
          <pc:sldMk cId="0" sldId="267"/>
        </pc:sldMkLst>
        <pc:spChg chg="mod">
          <ac:chgData name="Sri Varshini C" userId="25a8cfa47b96a522" providerId="LiveId" clId="{45C7E400-6DF2-49A0-AC1A-3D0A64070ED0}" dt="2025-08-13T14:24:54.232" v="59" actId="1076"/>
          <ac:spMkLst>
            <pc:docMk/>
            <pc:sldMk cId="0" sldId="267"/>
            <ac:spMk id="4" creationId="{00000000-0000-0000-0000-000000000000}"/>
          </ac:spMkLst>
        </pc:spChg>
      </pc:sldChg>
      <pc:sldChg chg="modSp mod">
        <pc:chgData name="Sri Varshini C" userId="25a8cfa47b96a522" providerId="LiveId" clId="{45C7E400-6DF2-49A0-AC1A-3D0A64070ED0}" dt="2025-08-13T14:25:49.929" v="65" actId="1076"/>
        <pc:sldMkLst>
          <pc:docMk/>
          <pc:sldMk cId="1734704348" sldId="268"/>
        </pc:sldMkLst>
        <pc:spChg chg="mod">
          <ac:chgData name="Sri Varshini C" userId="25a8cfa47b96a522" providerId="LiveId" clId="{45C7E400-6DF2-49A0-AC1A-3D0A64070ED0}" dt="2025-08-13T14:25:49.929" v="65" actId="1076"/>
          <ac:spMkLst>
            <pc:docMk/>
            <pc:sldMk cId="1734704348" sldId="268"/>
            <ac:spMk id="2" creationId="{BEDBF105-8EA8-E80A-A226-12194710AD0D}"/>
          </ac:spMkLst>
        </pc:spChg>
      </pc:sldChg>
      <pc:sldChg chg="modSp mod">
        <pc:chgData name="Sri Varshini C" userId="25a8cfa47b96a522" providerId="LiveId" clId="{45C7E400-6DF2-49A0-AC1A-3D0A64070ED0}" dt="2025-08-13T14:27:12.832" v="77" actId="207"/>
        <pc:sldMkLst>
          <pc:docMk/>
          <pc:sldMk cId="3757179812" sldId="269"/>
        </pc:sldMkLst>
        <pc:spChg chg="mod">
          <ac:chgData name="Sri Varshini C" userId="25a8cfa47b96a522" providerId="LiveId" clId="{45C7E400-6DF2-49A0-AC1A-3D0A64070ED0}" dt="2025-08-13T14:24:22.212" v="55" actId="1076"/>
          <ac:spMkLst>
            <pc:docMk/>
            <pc:sldMk cId="3757179812" sldId="269"/>
            <ac:spMk id="7" creationId="{2159426B-4308-47C7-6524-2A2DA8162A5F}"/>
          </ac:spMkLst>
        </pc:spChg>
        <pc:spChg chg="mod">
          <ac:chgData name="Sri Varshini C" userId="25a8cfa47b96a522" providerId="LiveId" clId="{45C7E400-6DF2-49A0-AC1A-3D0A64070ED0}" dt="2025-08-13T14:27:06.701" v="76" actId="207"/>
          <ac:spMkLst>
            <pc:docMk/>
            <pc:sldMk cId="3757179812" sldId="269"/>
            <ac:spMk id="8" creationId="{1D8FDB5B-81DB-90EF-6963-685EA80F704B}"/>
          </ac:spMkLst>
        </pc:spChg>
        <pc:spChg chg="mod">
          <ac:chgData name="Sri Varshini C" userId="25a8cfa47b96a522" providerId="LiveId" clId="{45C7E400-6DF2-49A0-AC1A-3D0A64070ED0}" dt="2025-08-13T14:27:12.832" v="77" actId="207"/>
          <ac:spMkLst>
            <pc:docMk/>
            <pc:sldMk cId="3757179812" sldId="269"/>
            <ac:spMk id="11" creationId="{0727A400-D8A9-BA75-8BBF-20A30D5024C0}"/>
          </ac:spMkLst>
        </pc:spChg>
        <pc:picChg chg="mod">
          <ac:chgData name="Sri Varshini C" userId="25a8cfa47b96a522" providerId="LiveId" clId="{45C7E400-6DF2-49A0-AC1A-3D0A64070ED0}" dt="2025-08-13T14:24:28.691" v="56" actId="1076"/>
          <ac:picMkLst>
            <pc:docMk/>
            <pc:sldMk cId="3757179812" sldId="269"/>
            <ac:picMk id="4" creationId="{49AEE95B-8D80-CA58-383A-F752DF0CC8BF}"/>
          </ac:picMkLst>
        </pc:picChg>
        <pc:picChg chg="mod">
          <ac:chgData name="Sri Varshini C" userId="25a8cfa47b96a522" providerId="LiveId" clId="{45C7E400-6DF2-49A0-AC1A-3D0A64070ED0}" dt="2025-08-13T14:23:21.991" v="45" actId="14100"/>
          <ac:picMkLst>
            <pc:docMk/>
            <pc:sldMk cId="3757179812" sldId="269"/>
            <ac:picMk id="9" creationId="{18E4CFF1-0361-B718-F198-72819C69A157}"/>
          </ac:picMkLst>
        </pc:picChg>
      </pc:sldChg>
    </pc:docChg>
  </pc:docChgLst>
  <pc:docChgLst>
    <pc:chgData name="Sri Varshini C" userId="25a8cfa47b96a522" providerId="LiveId" clId="{F7C6023B-8577-4D97-AB23-9D99FE86DF30}"/>
    <pc:docChg chg="undo custSel modSld">
      <pc:chgData name="Sri Varshini C" userId="25a8cfa47b96a522" providerId="LiveId" clId="{F7C6023B-8577-4D97-AB23-9D99FE86DF30}" dt="2025-07-28T03:51:59.671" v="61" actId="14100"/>
      <pc:docMkLst>
        <pc:docMk/>
      </pc:docMkLst>
      <pc:sldChg chg="modSp mod">
        <pc:chgData name="Sri Varshini C" userId="25a8cfa47b96a522" providerId="LiveId" clId="{F7C6023B-8577-4D97-AB23-9D99FE86DF30}" dt="2025-07-26T16:20:44.129" v="43" actId="255"/>
        <pc:sldMkLst>
          <pc:docMk/>
          <pc:sldMk cId="0" sldId="257"/>
        </pc:sldMkLst>
        <pc:spChg chg="mod">
          <ac:chgData name="Sri Varshini C" userId="25a8cfa47b96a522" providerId="LiveId" clId="{F7C6023B-8577-4D97-AB23-9D99FE86DF30}" dt="2025-07-26T16:20:44.129" v="43" actId="255"/>
          <ac:spMkLst>
            <pc:docMk/>
            <pc:sldMk cId="0" sldId="257"/>
            <ac:spMk id="69" creationId="{00000000-0000-0000-0000-000000000000}"/>
          </ac:spMkLst>
        </pc:spChg>
      </pc:sldChg>
      <pc:sldChg chg="addSp delSp modSp mod">
        <pc:chgData name="Sri Varshini C" userId="25a8cfa47b96a522" providerId="LiveId" clId="{F7C6023B-8577-4D97-AB23-9D99FE86DF30}" dt="2025-07-27T14:56:14.602" v="51" actId="1076"/>
        <pc:sldMkLst>
          <pc:docMk/>
          <pc:sldMk cId="0" sldId="259"/>
        </pc:sldMkLst>
      </pc:sldChg>
      <pc:sldChg chg="modSp mod">
        <pc:chgData name="Sri Varshini C" userId="25a8cfa47b96a522" providerId="LiveId" clId="{F7C6023B-8577-4D97-AB23-9D99FE86DF30}" dt="2025-07-26T16:17:22.464" v="38" actId="20577"/>
        <pc:sldMkLst>
          <pc:docMk/>
          <pc:sldMk cId="0" sldId="262"/>
        </pc:sldMkLst>
        <pc:spChg chg="mod">
          <ac:chgData name="Sri Varshini C" userId="25a8cfa47b96a522" providerId="LiveId" clId="{F7C6023B-8577-4D97-AB23-9D99FE86DF30}" dt="2025-07-26T16:17:22.464" v="38" actId="20577"/>
          <ac:spMkLst>
            <pc:docMk/>
            <pc:sldMk cId="0" sldId="262"/>
            <ac:spMk id="79" creationId="{00000000-0000-0000-0000-000000000000}"/>
          </ac:spMkLst>
        </pc:spChg>
      </pc:sldChg>
      <pc:sldChg chg="addSp delSp modSp mod">
        <pc:chgData name="Sri Varshini C" userId="25a8cfa47b96a522" providerId="LiveId" clId="{F7C6023B-8577-4D97-AB23-9D99FE86DF30}" dt="2025-07-28T03:51:59.671" v="61" actId="14100"/>
        <pc:sldMkLst>
          <pc:docMk/>
          <pc:sldMk cId="520469586" sldId="265"/>
        </pc:sldMkLst>
      </pc:sldChg>
      <pc:sldChg chg="modSp mod">
        <pc:chgData name="Sri Varshini C" userId="25a8cfa47b96a522" providerId="LiveId" clId="{F7C6023B-8577-4D97-AB23-9D99FE86DF30}" dt="2025-07-26T16:12:59.463" v="3" actId="20577"/>
        <pc:sldMkLst>
          <pc:docMk/>
          <pc:sldMk cId="0" sldId="267"/>
        </pc:sldMkLst>
        <pc:spChg chg="mod">
          <ac:chgData name="Sri Varshini C" userId="25a8cfa47b96a522" providerId="LiveId" clId="{F7C6023B-8577-4D97-AB23-9D99FE86DF30}" dt="2025-07-26T16:12:59.463" v="3" actId="20577"/>
          <ac:spMkLst>
            <pc:docMk/>
            <pc:sldMk cId="0" sldId="267"/>
            <ac:spMk id="5" creationId="{8744376D-CBDB-25CC-160D-515F0766089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DE0C7CED-F9F8-4CD6-8709-203A896A2DC3}" type="datetimeFigureOut">
              <a:rPr lang="en-IN" smtClean="0"/>
              <a:t>13-08-2025</a:t>
            </a:fld>
            <a:endParaRPr lang="en-IN"/>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EEE53F6-4F0A-4601-8FB5-2E2EEACF20D4}" type="slidenum">
              <a:rPr lang="en-IN" smtClean="0"/>
              <a:t>‹#›</a:t>
            </a:fld>
            <a:endParaRPr lang="en-IN"/>
          </a:p>
        </p:txBody>
      </p:sp>
    </p:spTree>
    <p:extLst>
      <p:ext uri="{BB962C8B-B14F-4D97-AF65-F5344CB8AC3E}">
        <p14:creationId xmlns:p14="http://schemas.microsoft.com/office/powerpoint/2010/main" val="2049788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EEE53F6-4F0A-4601-8FB5-2E2EEACF20D4}" type="slidenum">
              <a:rPr lang="en-IN" smtClean="0"/>
              <a:t>2</a:t>
            </a:fld>
            <a:endParaRPr lang="en-IN"/>
          </a:p>
        </p:txBody>
      </p:sp>
    </p:spTree>
    <p:extLst>
      <p:ext uri="{BB962C8B-B14F-4D97-AF65-F5344CB8AC3E}">
        <p14:creationId xmlns:p14="http://schemas.microsoft.com/office/powerpoint/2010/main" val="2060646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https://www.sketchbubble.com/en/presentation-overcoming-challenges.html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2"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315"/>
              </a:spcBef>
              <a:buNone/>
            </a:pPr>
            <a:endParaRPr lang="en-US" sz="26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3714CEE9-4765-42E5-A6FB-199C2AEAEFE4}"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5"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315"/>
              </a:spcBef>
              <a:buNone/>
            </a:pPr>
            <a:endParaRPr lang="en-US" sz="2600" b="0" strike="noStrike" spc="-1">
              <a:solidFill>
                <a:schemeClr val="dk1"/>
              </a:solidFill>
              <a:latin typeface="Calibri"/>
            </a:endParaRPr>
          </a:p>
        </p:txBody>
      </p:sp>
      <p:sp>
        <p:nvSpPr>
          <p:cNvPr id="3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315"/>
              </a:spcBef>
              <a:buNone/>
            </a:pPr>
            <a:endParaRPr lang="en-US" sz="2600" b="0" strike="noStrike" spc="-1">
              <a:solidFill>
                <a:schemeClr val="dk1"/>
              </a:solidFill>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BA6A5C3F-6E92-4F68-884B-FFF667D16E2E}" type="slidenum">
              <a:t>‹#›</a:t>
            </a:fld>
            <a:endParaRPr/>
          </a:p>
        </p:txBody>
      </p:sp>
      <p:sp>
        <p:nvSpPr>
          <p:cNvPr id="7" name="PlaceHolder 6"/>
          <p:cNvSpPr>
            <a:spLocks noGrp="1"/>
          </p:cNvSpPr>
          <p:nvPr>
            <p:ph type="dt" idx="16"/>
          </p:nvPr>
        </p:nvSpPr>
        <p:spPr/>
        <p:txBody>
          <a:bodyPr/>
          <a:lstStyle/>
          <a:p>
            <a:endParaRPr/>
          </a:p>
        </p:txBody>
      </p:sp>
    </p:spTree>
    <p:extLst>
      <p:ext uri="{BB962C8B-B14F-4D97-AF65-F5344CB8AC3E}">
        <p14:creationId xmlns:p14="http://schemas.microsoft.com/office/powerpoint/2010/main" val="433717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20909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Calibri Light"/>
              </a:rPr>
              <a:t>Click to edit Master title style</a:t>
            </a:r>
            <a:endParaRPr lang="en-US" sz="4400" b="0" strike="noStrike" spc="-1">
              <a:solidFill>
                <a:schemeClr val="dk1"/>
              </a:solidFill>
              <a:latin typeface="Calibri"/>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Calibri"/>
              </a:rPr>
              <a:t>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Calibri"/>
              </a:rPr>
              <a:t>Fifth level</a:t>
            </a: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IN" sz="1200" b="0" strike="noStrike" spc="-1">
                <a:solidFill>
                  <a:schemeClr val="dk1">
                    <a:tint val="75000"/>
                  </a:schemeClr>
                </a:solidFill>
                <a:latin typeface="Calibri"/>
              </a:defRPr>
            </a:lvl1pPr>
          </a:lstStyle>
          <a:p>
            <a:pPr indent="0" defTabSz="914400">
              <a:lnSpc>
                <a:spcPct val="100000"/>
              </a:lnSpc>
              <a:buNone/>
            </a:pPr>
            <a:r>
              <a:rPr lang="en-IN" sz="1200" b="0" strike="noStrike" spc="-1">
                <a:solidFill>
                  <a:schemeClr val="dk1">
                    <a:tint val="75000"/>
                  </a:schemeClr>
                </a:solidFill>
                <a:latin typeface="Calibri"/>
              </a:rPr>
              <a:t>&lt;date/time&gt;</a:t>
            </a:r>
            <a:endParaRPr lang="en-IN" sz="1200" b="0" strike="noStrike" spc="-1">
              <a:solidFill>
                <a:srgbClr val="000000"/>
              </a:solidFill>
              <a:latin typeface="Times New Roman"/>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strike="noStrike" spc="-1">
                <a:solidFill>
                  <a:schemeClr val="dk1">
                    <a:tint val="75000"/>
                  </a:schemeClr>
                </a:solidFill>
                <a:latin typeface="Calibri"/>
              </a:defRPr>
            </a:lvl1pPr>
          </a:lstStyle>
          <a:p>
            <a:pPr indent="0" algn="r" defTabSz="914400">
              <a:lnSpc>
                <a:spcPct val="100000"/>
              </a:lnSpc>
              <a:buNone/>
            </a:pPr>
            <a:fld id="{AD51E0CB-CCFE-437F-9993-B30855F3A337}" type="slidenum">
              <a:rPr lang="en-IN" sz="1200" b="0" strike="noStrike" spc="-1">
                <a:solidFill>
                  <a:schemeClr val="dk1">
                    <a:tint val="75000"/>
                  </a:schemeClr>
                </a:solidFill>
                <a:latin typeface="Calibri"/>
              </a:rPr>
              <a:t>‹#›</a:t>
            </a:fld>
            <a:endParaRPr lang="en-IN"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 id="2147483670" r:id="rId2"/>
    <p:sldLayoutId id="214748367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researchgate.net/profile/Sanam-Narejo/publication/351538173_Weapon_Detection_Using_YOLO_V3_for_Smart_Surveillance_System/links/609d253b299bf1259ed1696c/Weapon-Detection-Using-YOLO-V3-for-Smart-Surveillance-System.pdf" TargetMode="External"/><Relationship Id="rId7" Type="http://schemas.openxmlformats.org/officeDocument/2006/relationships/image" Target="../media/image1.png"/><Relationship Id="rId2" Type="http://schemas.openxmlformats.org/officeDocument/2006/relationships/hyperlink" Target="https://www.sciencedirect.com/science/article/abs/pii/S0925231218313365" TargetMode="External"/><Relationship Id="rId1" Type="http://schemas.openxmlformats.org/officeDocument/2006/relationships/slideLayout" Target="../slideLayouts/slideLayout1.xml"/><Relationship Id="rId6" Type="http://schemas.openxmlformats.org/officeDocument/2006/relationships/hyperlink" Target="https://www.sciencedirect.com/science/article/abs/pii/S0952197617302579" TargetMode="External"/><Relationship Id="rId5" Type="http://schemas.openxmlformats.org/officeDocument/2006/relationships/hyperlink" Target="https://www.ijraset.com/research-paper/weapon-detection-using-yolov4-cnn" TargetMode="External"/><Relationship Id="rId4" Type="http://schemas.openxmlformats.org/officeDocument/2006/relationships/hyperlink" Target="https://ieeexplore.ieee.org/document/9057329"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1464385" y="383169"/>
            <a:ext cx="9559080" cy="1325160"/>
          </a:xfrm>
          <a:prstGeom prst="rect">
            <a:avLst/>
          </a:prstGeom>
          <a:noFill/>
          <a:ln w="0">
            <a:noFill/>
          </a:ln>
        </p:spPr>
        <p:txBody>
          <a:bodyPr lIns="91440" tIns="45720" rIns="91440" bIns="45720" anchor="ctr">
            <a:normAutofit fontScale="90000"/>
          </a:bodyPr>
          <a:lstStyle/>
          <a:p>
            <a:pPr algn="ctr">
              <a:lnSpc>
                <a:spcPct val="107000"/>
              </a:lnSpc>
              <a:spcAft>
                <a:spcPts val="799"/>
              </a:spcAft>
            </a:pPr>
            <a:r>
              <a:rPr lang="en-US" sz="4000" b="1" strike="noStrike" spc="-1" dirty="0">
                <a:solidFill>
                  <a:schemeClr val="dk1"/>
                </a:solidFill>
                <a:latin typeface="Arial" panose="020B0604020202020204" pitchFamily="34" charset="0"/>
                <a:ea typeface="Times New Roman"/>
                <a:cs typeface="Arial" panose="020B0604020202020204" pitchFamily="34" charset="0"/>
              </a:rPr>
              <a:t>Title: </a:t>
            </a:r>
            <a:r>
              <a:rPr lang="en-US" sz="4000" b="1" dirty="0">
                <a:latin typeface="Arial" panose="020B0604020202020204" pitchFamily="34" charset="0"/>
                <a:cs typeface="Arial" panose="020B0604020202020204" pitchFamily="34" charset="0"/>
              </a:rPr>
              <a:t>Automatic Gun Detection and Recognition using Deep Learning</a:t>
            </a:r>
            <a:br>
              <a:rPr lang="en-US" sz="3200" b="1" dirty="0">
                <a:latin typeface="Arial" panose="020B0604020202020204" pitchFamily="34" charset="0"/>
                <a:cs typeface="Arial" panose="020B0604020202020204" pitchFamily="34" charset="0"/>
              </a:rPr>
            </a:br>
            <a:endParaRPr lang="en-US" sz="2400" b="1" strike="noStrike" spc="-1" dirty="0">
              <a:solidFill>
                <a:schemeClr val="dk1"/>
              </a:solidFill>
              <a:latin typeface="Arial" panose="020B0604020202020204" pitchFamily="34" charset="0"/>
              <a:cs typeface="Arial" panose="020B0604020202020204" pitchFamily="34" charset="0"/>
            </a:endParaRPr>
          </a:p>
        </p:txBody>
      </p:sp>
      <p:sp>
        <p:nvSpPr>
          <p:cNvPr id="66" name="PlaceHolder 2"/>
          <p:cNvSpPr>
            <a:spLocks noGrp="1"/>
          </p:cNvSpPr>
          <p:nvPr>
            <p:ph/>
          </p:nvPr>
        </p:nvSpPr>
        <p:spPr>
          <a:xfrm>
            <a:off x="211774" y="1708329"/>
            <a:ext cx="10515240" cy="4350960"/>
          </a:xfrm>
          <a:prstGeom prst="rect">
            <a:avLst/>
          </a:prstGeom>
          <a:noFill/>
          <a:ln w="0">
            <a:noFill/>
          </a:ln>
        </p:spPr>
        <p:txBody>
          <a:bodyPr lIns="91440" tIns="45720" rIns="91440" bIns="45720" anchor="t">
            <a:normAutofit fontScale="94264"/>
          </a:bodyPr>
          <a:lstStyle/>
          <a:p>
            <a:pPr indent="0" algn="ctr" defTabSz="914400">
              <a:lnSpc>
                <a:spcPct val="90000"/>
              </a:lnSpc>
              <a:spcBef>
                <a:spcPts val="1001"/>
              </a:spcBef>
              <a:buNone/>
              <a:tabLst>
                <a:tab pos="0" algn="l"/>
              </a:tabLst>
            </a:pPr>
            <a:endParaRPr lang="en-US" sz="2800" b="0" strike="noStrike" spc="-1" dirty="0">
              <a:solidFill>
                <a:schemeClr val="dk1"/>
              </a:solidFill>
              <a:latin typeface="Calibri"/>
            </a:endParaRPr>
          </a:p>
          <a:p>
            <a:pPr indent="0" algn="ctr" defTabSz="914400">
              <a:lnSpc>
                <a:spcPct val="90000"/>
              </a:lnSpc>
              <a:spcBef>
                <a:spcPts val="1001"/>
              </a:spcBef>
              <a:buNone/>
              <a:tabLst>
                <a:tab pos="0" algn="l"/>
              </a:tabLst>
            </a:pPr>
            <a:r>
              <a:rPr lang="en-US" sz="2800" b="1" strike="noStrike" spc="-1" dirty="0">
                <a:solidFill>
                  <a:schemeClr val="dk1"/>
                </a:solidFill>
                <a:latin typeface="Times New Roman"/>
              </a:rPr>
              <a:t>Presented by</a:t>
            </a:r>
            <a:endParaRPr lang="en-US" sz="2800" b="0" strike="noStrike" spc="-1" dirty="0">
              <a:solidFill>
                <a:schemeClr val="dk1"/>
              </a:solidFill>
              <a:latin typeface="Calibri"/>
            </a:endParaRPr>
          </a:p>
          <a:p>
            <a:pPr indent="0" algn="ctr" defTabSz="914400">
              <a:lnSpc>
                <a:spcPct val="107000"/>
              </a:lnSpc>
              <a:spcBef>
                <a:spcPts val="1001"/>
              </a:spcBef>
              <a:spcAft>
                <a:spcPts val="799"/>
              </a:spcAft>
              <a:buNone/>
              <a:tabLst>
                <a:tab pos="0" algn="l"/>
              </a:tabLst>
            </a:pPr>
            <a:r>
              <a:rPr lang="en-IN" sz="2400" b="0" strike="noStrike" spc="-1" dirty="0">
                <a:solidFill>
                  <a:schemeClr val="dk1"/>
                </a:solidFill>
                <a:latin typeface="Times New Roman"/>
                <a:ea typeface="Times New Roman"/>
              </a:rPr>
              <a:t>             245622733002: ADDAGULLA ISHIKA</a:t>
            </a:r>
            <a:endParaRPr lang="en-US" sz="2400" b="0" strike="noStrike" spc="-1" dirty="0">
              <a:solidFill>
                <a:schemeClr val="dk1"/>
              </a:solidFill>
              <a:latin typeface="Calibri"/>
            </a:endParaRPr>
          </a:p>
          <a:p>
            <a:pPr indent="0" algn="ctr" defTabSz="914400">
              <a:lnSpc>
                <a:spcPct val="107000"/>
              </a:lnSpc>
              <a:spcBef>
                <a:spcPts val="1001"/>
              </a:spcBef>
              <a:spcAft>
                <a:spcPts val="799"/>
              </a:spcAft>
              <a:buNone/>
              <a:tabLst>
                <a:tab pos="0" algn="l"/>
              </a:tabLst>
            </a:pPr>
            <a:r>
              <a:rPr lang="en-IN" sz="2400" b="0" strike="noStrike" spc="-1" dirty="0">
                <a:solidFill>
                  <a:schemeClr val="dk1"/>
                </a:solidFill>
                <a:latin typeface="Times New Roman"/>
                <a:ea typeface="Times New Roman"/>
              </a:rPr>
              <a:t>                    245622733303: CHOLLETI SRI VARSHINI  </a:t>
            </a:r>
            <a:endParaRPr lang="en-US" sz="2400" b="0" strike="noStrike" spc="-1" dirty="0">
              <a:solidFill>
                <a:schemeClr val="dk1"/>
              </a:solidFill>
              <a:latin typeface="Calibri"/>
            </a:endParaRPr>
          </a:p>
          <a:p>
            <a:pPr indent="0" algn="ctr" defTabSz="914400">
              <a:lnSpc>
                <a:spcPct val="107000"/>
              </a:lnSpc>
              <a:spcBef>
                <a:spcPts val="1001"/>
              </a:spcBef>
              <a:spcAft>
                <a:spcPts val="799"/>
              </a:spcAft>
              <a:buNone/>
              <a:tabLst>
                <a:tab pos="0" algn="l"/>
              </a:tabLst>
            </a:pPr>
            <a:r>
              <a:rPr lang="en-IN" sz="2400" b="0" strike="noStrike" spc="-1" dirty="0">
                <a:solidFill>
                  <a:schemeClr val="dk1"/>
                </a:solidFill>
                <a:latin typeface="Times New Roman"/>
                <a:ea typeface="Times New Roman"/>
              </a:rPr>
              <a:t>245622733304: GOPU SREEJA</a:t>
            </a:r>
            <a:endParaRPr lang="en-US" sz="2400" b="0" strike="noStrike" spc="-1" dirty="0">
              <a:solidFill>
                <a:schemeClr val="dk1"/>
              </a:solidFill>
              <a:latin typeface="Calibri"/>
            </a:endParaRPr>
          </a:p>
          <a:p>
            <a:pPr indent="0" algn="ctr" defTabSz="914400">
              <a:lnSpc>
                <a:spcPct val="107000"/>
              </a:lnSpc>
              <a:spcBef>
                <a:spcPts val="1001"/>
              </a:spcBef>
              <a:spcAft>
                <a:spcPts val="799"/>
              </a:spcAft>
              <a:buNone/>
              <a:tabLst>
                <a:tab pos="0" algn="l"/>
              </a:tabLst>
            </a:pPr>
            <a:r>
              <a:rPr lang="en-US" sz="2400" b="1" strike="noStrike" spc="-1" dirty="0">
                <a:solidFill>
                  <a:schemeClr val="dk1"/>
                </a:solidFill>
                <a:latin typeface="Times New Roman"/>
                <a:ea typeface="Times New Roman"/>
              </a:rPr>
              <a:t>Students of CSE ‘A  (G - 15)</a:t>
            </a:r>
            <a:endParaRPr lang="en-US" sz="2400" b="0" strike="noStrike" spc="-1" dirty="0">
              <a:solidFill>
                <a:schemeClr val="dk1"/>
              </a:solidFill>
              <a:latin typeface="Calibri"/>
            </a:endParaRPr>
          </a:p>
          <a:p>
            <a:pPr indent="0" algn="ctr" defTabSz="914400">
              <a:lnSpc>
                <a:spcPct val="90000"/>
              </a:lnSpc>
              <a:spcBef>
                <a:spcPts val="1001"/>
              </a:spcBef>
              <a:buNone/>
              <a:tabLst>
                <a:tab pos="0" algn="l"/>
              </a:tabLst>
            </a:pPr>
            <a:endParaRPr lang="en-US" sz="2800" b="0" strike="noStrike" spc="-1" dirty="0">
              <a:solidFill>
                <a:schemeClr val="dk1"/>
              </a:solidFill>
              <a:latin typeface="Calibri"/>
            </a:endParaRPr>
          </a:p>
          <a:p>
            <a:pPr indent="0" defTabSz="914400">
              <a:lnSpc>
                <a:spcPct val="90000"/>
              </a:lnSpc>
              <a:spcBef>
                <a:spcPts val="1001"/>
              </a:spcBef>
              <a:buNone/>
              <a:tabLst>
                <a:tab pos="0" algn="l"/>
              </a:tabLst>
            </a:pPr>
            <a:r>
              <a:rPr lang="en-US" sz="2800" b="1" strike="noStrike" spc="-1" dirty="0">
                <a:solidFill>
                  <a:schemeClr val="dk1"/>
                </a:solidFill>
                <a:latin typeface="Times New Roman"/>
                <a:ea typeface="Times New Roman"/>
              </a:rPr>
              <a:t>          Name of the Guide: </a:t>
            </a:r>
            <a:r>
              <a:rPr lang="en-IN" sz="2800" b="0" strike="noStrike" spc="-1" dirty="0">
                <a:solidFill>
                  <a:schemeClr val="dk1"/>
                </a:solidFill>
                <a:latin typeface="Times New Roman"/>
                <a:ea typeface="Times New Roman"/>
              </a:rPr>
              <a:t>Dr V. HARIKA</a:t>
            </a:r>
            <a:endParaRPr lang="en-US" sz="2800" b="0" strike="noStrike" spc="-1" dirty="0">
              <a:solidFill>
                <a:schemeClr val="dk1"/>
              </a:solidFill>
              <a:latin typeface="Calibri"/>
            </a:endParaRPr>
          </a:p>
          <a:p>
            <a:pPr indent="0" algn="ctr" defTabSz="914400">
              <a:lnSpc>
                <a:spcPct val="90000"/>
              </a:lnSpc>
              <a:spcBef>
                <a:spcPts val="1001"/>
              </a:spcBef>
              <a:buNone/>
              <a:tabLst>
                <a:tab pos="0" algn="l"/>
              </a:tabLst>
            </a:pPr>
            <a:endParaRPr lang="en-US" sz="2800" b="0" strike="noStrike" spc="-1" dirty="0">
              <a:solidFill>
                <a:schemeClr val="dk1"/>
              </a:solidFill>
              <a:latin typeface="Calibri"/>
            </a:endParaRPr>
          </a:p>
        </p:txBody>
      </p:sp>
      <p:pic>
        <p:nvPicPr>
          <p:cNvPr id="2" name="Picture 1">
            <a:extLst>
              <a:ext uri="{FF2B5EF4-FFF2-40B4-BE49-F238E27FC236}">
                <a16:creationId xmlns:a16="http://schemas.microsoft.com/office/drawing/2014/main" id="{BF328462-819F-C100-2DF4-30534AC7BF2A}"/>
              </a:ext>
            </a:extLst>
          </p:cNvPr>
          <p:cNvPicPr>
            <a:picLocks noChangeAspect="1"/>
          </p:cNvPicPr>
          <p:nvPr/>
        </p:nvPicPr>
        <p:blipFill>
          <a:blip r:embed="rId2"/>
          <a:stretch>
            <a:fillRect/>
          </a:stretch>
        </p:blipFill>
        <p:spPr>
          <a:xfrm>
            <a:off x="211774" y="290205"/>
            <a:ext cx="1252611" cy="978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658440" y="106806"/>
            <a:ext cx="10515240" cy="1325160"/>
          </a:xfrm>
          <a:prstGeom prst="rect">
            <a:avLst/>
          </a:prstGeom>
          <a:noFill/>
          <a:ln w="0">
            <a:noFill/>
          </a:ln>
        </p:spPr>
        <p:txBody>
          <a:bodyPr lIns="91440" tIns="45720" rIns="91440" bIns="45720" anchor="ctr">
            <a:noAutofit/>
          </a:bodyPr>
          <a:lstStyle/>
          <a:p>
            <a:pPr indent="0" algn="ctr" defTabSz="914400">
              <a:lnSpc>
                <a:spcPct val="90000"/>
              </a:lnSpc>
              <a:buNone/>
            </a:pPr>
            <a:r>
              <a:rPr lang="en-US" sz="4400" b="1" strike="noStrike" spc="-1" dirty="0">
                <a:solidFill>
                  <a:schemeClr val="dk1"/>
                </a:solidFill>
                <a:latin typeface="Times New Roman"/>
              </a:rPr>
              <a:t>Abstract</a:t>
            </a:r>
            <a:endParaRPr lang="en-US" sz="4400" b="0" strike="noStrike" spc="-1" dirty="0">
              <a:solidFill>
                <a:schemeClr val="dk1"/>
              </a:solidFill>
              <a:latin typeface="Calibri"/>
            </a:endParaRPr>
          </a:p>
        </p:txBody>
      </p:sp>
      <p:sp>
        <p:nvSpPr>
          <p:cNvPr id="69" name="PlaceHolder 2"/>
          <p:cNvSpPr>
            <a:spLocks noGrp="1"/>
          </p:cNvSpPr>
          <p:nvPr>
            <p:ph/>
          </p:nvPr>
        </p:nvSpPr>
        <p:spPr>
          <a:xfrm>
            <a:off x="838080" y="1371599"/>
            <a:ext cx="10335600" cy="4871885"/>
          </a:xfrm>
          <a:prstGeom prst="rect">
            <a:avLst/>
          </a:prstGeom>
          <a:noFill/>
          <a:ln w="0">
            <a:noFill/>
          </a:ln>
        </p:spPr>
        <p:txBody>
          <a:bodyPr lIns="91440" tIns="45720" rIns="91440" bIns="45720" anchor="t">
            <a:noAutofit/>
          </a:bodyPr>
          <a:lstStyle/>
          <a:p>
            <a:pPr>
              <a:lnSpc>
                <a:spcPct val="150000"/>
              </a:lnSpc>
              <a:spcBef>
                <a:spcPts val="1001"/>
              </a:spcBef>
              <a:tabLst>
                <a:tab pos="0" algn="l"/>
              </a:tabLst>
            </a:pPr>
            <a:r>
              <a:rPr lang="en-US" sz="2000" dirty="0">
                <a:latin typeface="Times New Roman" panose="02020603050405020304" pitchFamily="18" charset="0"/>
                <a:cs typeface="Times New Roman" panose="02020603050405020304" pitchFamily="18" charset="0"/>
              </a:rPr>
              <a:t>Real-time object detection to improve surveillance methods is one of the sought -after applications of Convolutional Neural Networks (CNNs). This research work has approached the detection of handguns in areas monitored by cameras. Gun violence and mass shootings are also on the rise in certain parts of the world. Such incidents are time sensitive and can cause a huge loss to life and property. Hence, the proposed work has built a deep learning model based on the YOLOv3 algorithm that processes a video frame-by-frame to detect such anomalies in real-time and generate detects the Gun.</a:t>
            </a:r>
          </a:p>
          <a:p>
            <a:pPr>
              <a:lnSpc>
                <a:spcPct val="150000"/>
              </a:lnSpc>
              <a:spcBef>
                <a:spcPts val="1001"/>
              </a:spcBef>
              <a:tabLst>
                <a:tab pos="0" algn="l"/>
              </a:tabLst>
            </a:pPr>
            <a:r>
              <a:rPr lang="en-IN" sz="2000" b="1" strike="noStrike" spc="-1" dirty="0">
                <a:solidFill>
                  <a:schemeClr val="dk1"/>
                </a:solidFill>
                <a:latin typeface="Times New Roman"/>
                <a:ea typeface="Times New Roman"/>
              </a:rPr>
              <a:t>Key Words: Convolutional Neural Networks(CNN),Surveillance methods,YOLOv3 Algorithm</a:t>
            </a:r>
            <a:endParaRPr lang="en-US" sz="2000" b="1" strike="noStrike" spc="-150" dirty="0">
              <a:solidFill>
                <a:schemeClr val="dk1"/>
              </a:solidFill>
              <a:latin typeface="Calibri"/>
            </a:endParaRPr>
          </a:p>
        </p:txBody>
      </p:sp>
      <p:pic>
        <p:nvPicPr>
          <p:cNvPr id="4" name="Picture 4" descr="How to write an abstract - Paperpile">
            <a:extLst>
              <a:ext uri="{FF2B5EF4-FFF2-40B4-BE49-F238E27FC236}">
                <a16:creationId xmlns:a16="http://schemas.microsoft.com/office/drawing/2014/main" id="{5CA99969-7109-C068-E45D-102536D96C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19162" y="139063"/>
            <a:ext cx="1468315" cy="132516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F328462-819F-C100-2DF4-30534AC7BF2A}"/>
              </a:ext>
            </a:extLst>
          </p:cNvPr>
          <p:cNvPicPr>
            <a:picLocks noChangeAspect="1"/>
          </p:cNvPicPr>
          <p:nvPr/>
        </p:nvPicPr>
        <p:blipFill>
          <a:blip r:embed="rId4"/>
          <a:stretch>
            <a:fillRect/>
          </a:stretch>
        </p:blipFill>
        <p:spPr>
          <a:xfrm>
            <a:off x="211774" y="280161"/>
            <a:ext cx="1252611" cy="9784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91FDC-99F6-9BDB-E116-5350CCB7BCAA}"/>
              </a:ext>
            </a:extLst>
          </p:cNvPr>
          <p:cNvSpPr>
            <a:spLocks noGrp="1"/>
          </p:cNvSpPr>
          <p:nvPr>
            <p:ph type="title"/>
          </p:nvPr>
        </p:nvSpPr>
        <p:spPr>
          <a:xfrm>
            <a:off x="1617435" y="163461"/>
            <a:ext cx="9679205" cy="1325160"/>
          </a:xfrm>
        </p:spPr>
        <p:txBody>
          <a:bodyPr/>
          <a:lstStyle/>
          <a:p>
            <a:r>
              <a:rPr lang="en-US" sz="4400" b="1" strike="noStrike" spc="-1" dirty="0">
                <a:solidFill>
                  <a:schemeClr val="dk1"/>
                </a:solidFill>
                <a:latin typeface="Times New Roman"/>
              </a:rPr>
              <a:t>  </a:t>
            </a:r>
            <a:r>
              <a:rPr lang="en-US" b="1" strike="noStrike" spc="-1" dirty="0">
                <a:solidFill>
                  <a:schemeClr val="dk1"/>
                </a:solidFill>
                <a:latin typeface="Times New Roman"/>
              </a:rPr>
              <a:t>Requirements for the Proposed Project</a:t>
            </a:r>
            <a:endParaRPr lang="en-IN" dirty="0"/>
          </a:p>
        </p:txBody>
      </p:sp>
      <p:sp>
        <p:nvSpPr>
          <p:cNvPr id="3" name="Content Placeholder 2">
            <a:extLst>
              <a:ext uri="{FF2B5EF4-FFF2-40B4-BE49-F238E27FC236}">
                <a16:creationId xmlns:a16="http://schemas.microsoft.com/office/drawing/2014/main" id="{CC42BA93-0B64-AC57-383C-28CB64692D41}"/>
              </a:ext>
            </a:extLst>
          </p:cNvPr>
          <p:cNvSpPr>
            <a:spLocks noGrp="1"/>
          </p:cNvSpPr>
          <p:nvPr>
            <p:ph/>
          </p:nvPr>
        </p:nvSpPr>
        <p:spPr>
          <a:xfrm>
            <a:off x="364824" y="1316134"/>
            <a:ext cx="5191012" cy="3497895"/>
          </a:xfrm>
        </p:spPr>
        <p:txBody>
          <a:bodyPr/>
          <a:lstStyle/>
          <a:p>
            <a:pPr marL="0" indent="0">
              <a:buNone/>
            </a:pPr>
            <a:r>
              <a:rPr lang="en-US" sz="3000" b="1" strike="noStrike" spc="-1" dirty="0">
                <a:solidFill>
                  <a:srgbClr val="000000"/>
                </a:solidFill>
                <a:latin typeface="Times New Roman"/>
              </a:rPr>
              <a:t>Software Requirements:</a:t>
            </a:r>
          </a:p>
          <a:p>
            <a:pPr marL="0" indent="0">
              <a:buNone/>
            </a:pPr>
            <a:endParaRPr lang="en-US" sz="3000" b="1" strike="noStrike" spc="-1" dirty="0">
              <a:solidFill>
                <a:srgbClr val="000000"/>
              </a:solidFill>
              <a:latin typeface="Times New Roman"/>
            </a:endParaRPr>
          </a:p>
          <a:p>
            <a:pPr marL="457200" indent="-457200">
              <a:buFont typeface="Arial" panose="020B0604020202020204" pitchFamily="34" charset="0"/>
              <a:buChar char="•"/>
            </a:pPr>
            <a:r>
              <a:rPr lang="en-US" sz="25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Operating system: </a:t>
            </a:r>
            <a:r>
              <a:rPr lang="en-US" sz="23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Windows 7 and abo</a:t>
            </a:r>
            <a:r>
              <a:rPr lang="en-US" sz="2300" spc="-1" dirty="0">
                <a:solidFill>
                  <a:srgbClr val="000000"/>
                </a:solidFill>
                <a:latin typeface="Times New Roman"/>
                <a:ea typeface="Times New Roman" panose="02020603050405020304" pitchFamily="18" charset="0"/>
                <a:cs typeface="Times New Roman" panose="02020603050405020304" pitchFamily="18" charset="0"/>
              </a:rPr>
              <a:t>ve.</a:t>
            </a:r>
            <a:endParaRPr lang="en-US" sz="2300" b="1" spc="-1" dirty="0">
              <a:solidFill>
                <a:srgbClr val="000000"/>
              </a:solidFill>
              <a:latin typeface="Times New Roman"/>
              <a:ea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5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Programming Language: </a:t>
            </a:r>
            <a:r>
              <a:rPr lang="en-US" sz="25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Python.</a:t>
            </a:r>
            <a:endParaRPr lang="en-US" sz="2500" spc="-1" dirty="0">
              <a:solidFill>
                <a:srgbClr val="000000"/>
              </a:solidFill>
              <a:latin typeface="Times New Roman"/>
              <a:ea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500" b="1" dirty="0">
                <a:solidFill>
                  <a:prstClr val="black"/>
                </a:solidFill>
                <a:latin typeface="Times New Roman" panose="02020603050405020304" pitchFamily="18" charset="0"/>
                <a:cs typeface="Times New Roman" panose="02020603050405020304" pitchFamily="18" charset="0"/>
              </a:rPr>
              <a:t>Frameworks: </a:t>
            </a:r>
            <a:r>
              <a:rPr lang="en-US" sz="2500" dirty="0">
                <a:solidFill>
                  <a:prstClr val="black"/>
                </a:solidFill>
                <a:latin typeface="Times New Roman" panose="02020603050405020304" pitchFamily="18" charset="0"/>
                <a:cs typeface="Times New Roman" panose="02020603050405020304" pitchFamily="18" charset="0"/>
              </a:rPr>
              <a:t>Darknet- 53</a:t>
            </a:r>
            <a:endParaRPr lang="en-IN" sz="2300" dirty="0"/>
          </a:p>
          <a:p>
            <a:pPr marL="457200" indent="-457200">
              <a:buFont typeface="Arial" panose="020B0604020202020204" pitchFamily="34" charset="0"/>
              <a:buChar char="•"/>
            </a:pPr>
            <a:endParaRPr lang="en-IN" dirty="0"/>
          </a:p>
        </p:txBody>
      </p:sp>
      <p:sp>
        <p:nvSpPr>
          <p:cNvPr id="4" name="Content Placeholder 3">
            <a:extLst>
              <a:ext uri="{FF2B5EF4-FFF2-40B4-BE49-F238E27FC236}">
                <a16:creationId xmlns:a16="http://schemas.microsoft.com/office/drawing/2014/main" id="{FD6C66B1-DDBB-A54C-0DBB-FCCEF7608736}"/>
              </a:ext>
            </a:extLst>
          </p:cNvPr>
          <p:cNvSpPr>
            <a:spLocks noGrp="1"/>
          </p:cNvSpPr>
          <p:nvPr>
            <p:ph/>
          </p:nvPr>
        </p:nvSpPr>
        <p:spPr>
          <a:xfrm>
            <a:off x="6702159" y="1840649"/>
            <a:ext cx="5489841" cy="4125597"/>
          </a:xfrm>
        </p:spPr>
        <p:txBody>
          <a:bodyPr/>
          <a:lstStyle/>
          <a:p>
            <a:pPr marL="0" indent="0">
              <a:buNone/>
            </a:pPr>
            <a:r>
              <a:rPr lang="en-US" sz="3000" b="1" strike="noStrike" spc="-1" dirty="0">
                <a:solidFill>
                  <a:srgbClr val="000000"/>
                </a:solidFill>
                <a:latin typeface="Times New Roman"/>
                <a:ea typeface="Times New Roman"/>
              </a:rPr>
              <a:t>Hardware Requirements:</a:t>
            </a:r>
          </a:p>
          <a:p>
            <a:pPr marL="0" indent="0">
              <a:buNone/>
            </a:pPr>
            <a:endParaRPr lang="en-US" sz="3000" b="0" strike="noStrike" spc="-1" dirty="0">
              <a:solidFill>
                <a:schemeClr val="dk1"/>
              </a:solidFill>
              <a:latin typeface="Calibri"/>
            </a:endParaRPr>
          </a:p>
          <a:p>
            <a:pPr marL="457200" indent="-457200">
              <a:buFont typeface="Arial" panose="020B0604020202020204" pitchFamily="34" charset="0"/>
              <a:buChar char="•"/>
            </a:pPr>
            <a:r>
              <a:rPr lang="en-US" sz="25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Processor</a:t>
            </a: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3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Intel i3 and above.</a:t>
            </a:r>
          </a:p>
          <a:p>
            <a:pPr marL="457200" indent="-457200">
              <a:buFont typeface="Arial" panose="020B0604020202020204" pitchFamily="34" charset="0"/>
              <a:buChar char="•"/>
            </a:pPr>
            <a:r>
              <a:rPr lang="en-US" sz="25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RAM: </a:t>
            </a:r>
            <a:r>
              <a:rPr lang="en-US" sz="23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8GB and above.</a:t>
            </a:r>
          </a:p>
          <a:p>
            <a:pPr marL="457200" indent="-457200">
              <a:buFont typeface="Arial" panose="020B0604020202020204" pitchFamily="34" charset="0"/>
              <a:buChar char="•"/>
            </a:pPr>
            <a:r>
              <a:rPr lang="en-US" sz="25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Hard Disk: </a:t>
            </a:r>
            <a:r>
              <a:rPr lang="en-US" sz="23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512 GB and above.</a:t>
            </a:r>
          </a:p>
          <a:p>
            <a:pPr marL="457200" indent="-457200">
              <a:buFont typeface="Arial" panose="020B0604020202020204" pitchFamily="34" charset="0"/>
              <a:buChar char="•"/>
            </a:pPr>
            <a:r>
              <a:rPr lang="en-US" sz="25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Key Board: </a:t>
            </a:r>
            <a:r>
              <a:rPr lang="en-US" sz="23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Standard Windows Keyboard.</a:t>
            </a:r>
          </a:p>
          <a:p>
            <a:pPr marL="457200" indent="-457200">
              <a:buFont typeface="Arial" panose="020B0604020202020204" pitchFamily="34" charset="0"/>
              <a:buChar char="•"/>
            </a:pPr>
            <a:r>
              <a:rPr lang="en-US" sz="25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Monitor:</a:t>
            </a:r>
            <a:r>
              <a:rPr lang="en-US" sz="23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14 color Monitor.</a:t>
            </a:r>
          </a:p>
          <a:p>
            <a:endPar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pic>
        <p:nvPicPr>
          <p:cNvPr id="7" name="Picture 6" descr="What is Python Coding? | Juni Learning">
            <a:extLst>
              <a:ext uri="{FF2B5EF4-FFF2-40B4-BE49-F238E27FC236}">
                <a16:creationId xmlns:a16="http://schemas.microsoft.com/office/drawing/2014/main" id="{4B6BE551-2D04-E222-17EE-4006E64D6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0488" y="4814029"/>
            <a:ext cx="1294376" cy="115221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Visual Studio Code - YouTube">
            <a:extLst>
              <a:ext uri="{FF2B5EF4-FFF2-40B4-BE49-F238E27FC236}">
                <a16:creationId xmlns:a16="http://schemas.microsoft.com/office/drawing/2014/main" id="{A1EB9073-0134-3D8A-EC2F-A7E924D11A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5937" y="4964589"/>
            <a:ext cx="808456" cy="85109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Windows — Story">
            <a:extLst>
              <a:ext uri="{FF2B5EF4-FFF2-40B4-BE49-F238E27FC236}">
                <a16:creationId xmlns:a16="http://schemas.microsoft.com/office/drawing/2014/main" id="{0470FC00-9251-3030-3EC4-F67F8A19CA1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6839" y="5794216"/>
            <a:ext cx="1760964" cy="88268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F328462-819F-C100-2DF4-30534AC7BF2A}"/>
              </a:ext>
            </a:extLst>
          </p:cNvPr>
          <p:cNvPicPr>
            <a:picLocks noChangeAspect="1"/>
          </p:cNvPicPr>
          <p:nvPr/>
        </p:nvPicPr>
        <p:blipFill>
          <a:blip r:embed="rId5"/>
          <a:stretch>
            <a:fillRect/>
          </a:stretch>
        </p:blipFill>
        <p:spPr>
          <a:xfrm>
            <a:off x="175896" y="370586"/>
            <a:ext cx="1252611" cy="978450"/>
          </a:xfrm>
          <a:prstGeom prst="rect">
            <a:avLst/>
          </a:prstGeom>
        </p:spPr>
      </p:pic>
    </p:spTree>
    <p:extLst>
      <p:ext uri="{BB962C8B-B14F-4D97-AF65-F5344CB8AC3E}">
        <p14:creationId xmlns:p14="http://schemas.microsoft.com/office/powerpoint/2010/main" val="3676552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49589" y="421460"/>
            <a:ext cx="10515240" cy="731880"/>
          </a:xfrm>
          <a:prstGeom prst="rect">
            <a:avLst/>
          </a:prstGeom>
          <a:noFill/>
          <a:ln w="0">
            <a:noFill/>
          </a:ln>
        </p:spPr>
        <p:txBody>
          <a:bodyPr lIns="91440" tIns="45720" rIns="91440" bIns="45720" anchor="ctr">
            <a:noAutofit/>
          </a:bodyPr>
          <a:lstStyle/>
          <a:p>
            <a:pPr indent="0" algn="ctr" defTabSz="914400">
              <a:lnSpc>
                <a:spcPct val="90000"/>
              </a:lnSpc>
              <a:buNone/>
            </a:pPr>
            <a:r>
              <a:rPr lang="en-IN" sz="4400" b="0" strike="noStrike" spc="-1" dirty="0">
                <a:solidFill>
                  <a:schemeClr val="dk1"/>
                </a:solidFill>
                <a:latin typeface="Times New Roman"/>
              </a:rPr>
              <a:t> </a:t>
            </a:r>
            <a:r>
              <a:rPr lang="en-IN" sz="4400" b="1" strike="noStrike" spc="-1" dirty="0">
                <a:solidFill>
                  <a:schemeClr val="dk1"/>
                </a:solidFill>
                <a:latin typeface="Times New Roman"/>
              </a:rPr>
              <a:t>Proposed Methodology</a:t>
            </a:r>
            <a:endParaRPr lang="en-US" sz="4400" b="0" strike="noStrike" spc="-1" dirty="0">
              <a:solidFill>
                <a:schemeClr val="dk1"/>
              </a:solidFill>
              <a:latin typeface="Calibri"/>
            </a:endParaRPr>
          </a:p>
        </p:txBody>
      </p:sp>
      <p:pic>
        <p:nvPicPr>
          <p:cNvPr id="2" name="Picture 1">
            <a:extLst>
              <a:ext uri="{FF2B5EF4-FFF2-40B4-BE49-F238E27FC236}">
                <a16:creationId xmlns:a16="http://schemas.microsoft.com/office/drawing/2014/main" id="{BF328462-819F-C100-2DF4-30534AC7BF2A}"/>
              </a:ext>
            </a:extLst>
          </p:cNvPr>
          <p:cNvPicPr>
            <a:picLocks noChangeAspect="1"/>
          </p:cNvPicPr>
          <p:nvPr/>
        </p:nvPicPr>
        <p:blipFill>
          <a:blip r:embed="rId2"/>
          <a:stretch>
            <a:fillRect/>
          </a:stretch>
        </p:blipFill>
        <p:spPr>
          <a:xfrm>
            <a:off x="211774" y="298175"/>
            <a:ext cx="1252611" cy="978450"/>
          </a:xfrm>
          <a:prstGeom prst="rect">
            <a:avLst/>
          </a:prstGeom>
        </p:spPr>
      </p:pic>
      <p:pic>
        <p:nvPicPr>
          <p:cNvPr id="5" name="Picture 4">
            <a:extLst>
              <a:ext uri="{FF2B5EF4-FFF2-40B4-BE49-F238E27FC236}">
                <a16:creationId xmlns:a16="http://schemas.microsoft.com/office/drawing/2014/main" id="{1B6B8BE8-79F1-CABB-FB53-B934BFD2B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5937" y="1153340"/>
            <a:ext cx="4876800" cy="57046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B3CBD-B3C8-700B-2A34-70BC7A476076}"/>
              </a:ext>
            </a:extLst>
          </p:cNvPr>
          <p:cNvSpPr>
            <a:spLocks noGrp="1"/>
          </p:cNvSpPr>
          <p:nvPr>
            <p:ph type="title"/>
          </p:nvPr>
        </p:nvSpPr>
        <p:spPr>
          <a:xfrm>
            <a:off x="3380982" y="0"/>
            <a:ext cx="5257920" cy="132516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Results and Analysis</a:t>
            </a:r>
            <a:endParaRPr lang="en-IN" dirty="0"/>
          </a:p>
        </p:txBody>
      </p:sp>
      <p:pic>
        <p:nvPicPr>
          <p:cNvPr id="6" name="Picture 5">
            <a:extLst>
              <a:ext uri="{FF2B5EF4-FFF2-40B4-BE49-F238E27FC236}">
                <a16:creationId xmlns:a16="http://schemas.microsoft.com/office/drawing/2014/main" id="{B8E5C07A-0609-1229-FC81-41D700CBAF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4207" y="1776870"/>
            <a:ext cx="3857991" cy="2469538"/>
          </a:xfrm>
          <a:prstGeom prst="rect">
            <a:avLst/>
          </a:prstGeom>
        </p:spPr>
      </p:pic>
      <p:pic>
        <p:nvPicPr>
          <p:cNvPr id="8" name="Picture 7">
            <a:extLst>
              <a:ext uri="{FF2B5EF4-FFF2-40B4-BE49-F238E27FC236}">
                <a16:creationId xmlns:a16="http://schemas.microsoft.com/office/drawing/2014/main" id="{0E3F17DA-4E5D-EB40-6826-2BDD1D6600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16210" y="1776870"/>
            <a:ext cx="3857991" cy="2430461"/>
          </a:xfrm>
          <a:prstGeom prst="rect">
            <a:avLst/>
          </a:prstGeom>
        </p:spPr>
      </p:pic>
      <p:pic>
        <p:nvPicPr>
          <p:cNvPr id="10" name="Picture 9">
            <a:extLst>
              <a:ext uri="{FF2B5EF4-FFF2-40B4-BE49-F238E27FC236}">
                <a16:creationId xmlns:a16="http://schemas.microsoft.com/office/drawing/2014/main" id="{37C56BF1-2480-94EF-91AB-3E97739952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07797" y="4386385"/>
            <a:ext cx="3857991" cy="2391384"/>
          </a:xfrm>
          <a:prstGeom prst="rect">
            <a:avLst/>
          </a:prstGeom>
        </p:spPr>
      </p:pic>
      <p:sp>
        <p:nvSpPr>
          <p:cNvPr id="11" name="TextBox 10">
            <a:extLst>
              <a:ext uri="{FF2B5EF4-FFF2-40B4-BE49-F238E27FC236}">
                <a16:creationId xmlns:a16="http://schemas.microsoft.com/office/drawing/2014/main" id="{97371AD0-68E1-CCA4-CF83-B5542F32D7A8}"/>
              </a:ext>
            </a:extLst>
          </p:cNvPr>
          <p:cNvSpPr txBox="1"/>
          <p:nvPr/>
        </p:nvSpPr>
        <p:spPr>
          <a:xfrm>
            <a:off x="536362" y="1176679"/>
            <a:ext cx="3016738" cy="553998"/>
          </a:xfrm>
          <a:prstGeom prst="rect">
            <a:avLst/>
          </a:prstGeom>
          <a:noFill/>
        </p:spPr>
        <p:txBody>
          <a:bodyPr wrap="square" rtlCol="0">
            <a:spAutoFit/>
          </a:bodyPr>
          <a:lstStyle/>
          <a:p>
            <a:r>
              <a:rPr lang="en-IN" sz="3000" b="1" dirty="0">
                <a:latin typeface="Times New Roman" panose="02020603050405020304" pitchFamily="18" charset="0"/>
                <a:cs typeface="Times New Roman" panose="02020603050405020304" pitchFamily="18" charset="0"/>
              </a:rPr>
              <a:t>Gun detections:</a:t>
            </a:r>
          </a:p>
        </p:txBody>
      </p:sp>
      <p:pic>
        <p:nvPicPr>
          <p:cNvPr id="3" name="Picture 2">
            <a:extLst>
              <a:ext uri="{FF2B5EF4-FFF2-40B4-BE49-F238E27FC236}">
                <a16:creationId xmlns:a16="http://schemas.microsoft.com/office/drawing/2014/main" id="{BF328462-819F-C100-2DF4-30534AC7BF2A}"/>
              </a:ext>
            </a:extLst>
          </p:cNvPr>
          <p:cNvPicPr>
            <a:picLocks noChangeAspect="1"/>
          </p:cNvPicPr>
          <p:nvPr/>
        </p:nvPicPr>
        <p:blipFill>
          <a:blip r:embed="rId5"/>
          <a:stretch>
            <a:fillRect/>
          </a:stretch>
        </p:blipFill>
        <p:spPr>
          <a:xfrm>
            <a:off x="334987" y="112874"/>
            <a:ext cx="1252611" cy="978450"/>
          </a:xfrm>
          <a:prstGeom prst="rect">
            <a:avLst/>
          </a:prstGeom>
        </p:spPr>
      </p:pic>
    </p:spTree>
    <p:extLst>
      <p:ext uri="{BB962C8B-B14F-4D97-AF65-F5344CB8AC3E}">
        <p14:creationId xmlns:p14="http://schemas.microsoft.com/office/powerpoint/2010/main" val="2902293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72C5D-756A-EFA0-DC31-5D1515191359}"/>
              </a:ext>
            </a:extLst>
          </p:cNvPr>
          <p:cNvSpPr>
            <a:spLocks noGrp="1"/>
          </p:cNvSpPr>
          <p:nvPr>
            <p:ph type="title"/>
          </p:nvPr>
        </p:nvSpPr>
        <p:spPr/>
        <p:txBody>
          <a:bodyPr/>
          <a:lstStyle/>
          <a:p>
            <a:r>
              <a:rPr lang="en-IN" dirty="0"/>
              <a:t> </a:t>
            </a:r>
          </a:p>
        </p:txBody>
      </p:sp>
      <p:sp>
        <p:nvSpPr>
          <p:cNvPr id="7" name="TextBox 6">
            <a:extLst>
              <a:ext uri="{FF2B5EF4-FFF2-40B4-BE49-F238E27FC236}">
                <a16:creationId xmlns:a16="http://schemas.microsoft.com/office/drawing/2014/main" id="{2159426B-4308-47C7-6524-2A2DA8162A5F}"/>
              </a:ext>
            </a:extLst>
          </p:cNvPr>
          <p:cNvSpPr txBox="1"/>
          <p:nvPr/>
        </p:nvSpPr>
        <p:spPr>
          <a:xfrm>
            <a:off x="3071099" y="398296"/>
            <a:ext cx="6096000" cy="769441"/>
          </a:xfrm>
          <a:prstGeom prst="rect">
            <a:avLst/>
          </a:prstGeom>
          <a:noFill/>
        </p:spPr>
        <p:txBody>
          <a:bodyPr wrap="square">
            <a:spAutoFit/>
          </a:bodyPr>
          <a:lstStyle/>
          <a:p>
            <a:r>
              <a:rPr lang="en-IN" sz="4400" b="1" dirty="0">
                <a:latin typeface="Times New Roman" panose="02020603050405020304" pitchFamily="18" charset="0"/>
                <a:cs typeface="Times New Roman" panose="02020603050405020304" pitchFamily="18" charset="0"/>
              </a:rPr>
              <a:t>Performance</a:t>
            </a:r>
            <a:r>
              <a:rPr lang="en-IN" b="1" dirty="0">
                <a:latin typeface="Times New Roman" panose="02020603050405020304" pitchFamily="18" charset="0"/>
                <a:cs typeface="Times New Roman" panose="02020603050405020304" pitchFamily="18" charset="0"/>
              </a:rPr>
              <a:t> </a:t>
            </a:r>
            <a:r>
              <a:rPr lang="en-IN" sz="4400" b="1" dirty="0">
                <a:latin typeface="Times New Roman" panose="02020603050405020304" pitchFamily="18" charset="0"/>
                <a:cs typeface="Times New Roman" panose="02020603050405020304" pitchFamily="18" charset="0"/>
              </a:rPr>
              <a:t>Metrics</a:t>
            </a:r>
            <a:endParaRPr lang="en-IN" sz="4400" dirty="0"/>
          </a:p>
        </p:txBody>
      </p:sp>
      <p:pic>
        <p:nvPicPr>
          <p:cNvPr id="3" name="Picture 2">
            <a:extLst>
              <a:ext uri="{FF2B5EF4-FFF2-40B4-BE49-F238E27FC236}">
                <a16:creationId xmlns:a16="http://schemas.microsoft.com/office/drawing/2014/main" id="{BF328462-819F-C100-2DF4-30534AC7BF2A}"/>
              </a:ext>
            </a:extLst>
          </p:cNvPr>
          <p:cNvPicPr>
            <a:picLocks noChangeAspect="1"/>
          </p:cNvPicPr>
          <p:nvPr/>
        </p:nvPicPr>
        <p:blipFill>
          <a:blip r:embed="rId2"/>
          <a:stretch>
            <a:fillRect/>
          </a:stretch>
        </p:blipFill>
        <p:spPr>
          <a:xfrm>
            <a:off x="374064" y="365040"/>
            <a:ext cx="1252611" cy="978450"/>
          </a:xfrm>
          <a:prstGeom prst="rect">
            <a:avLst/>
          </a:prstGeom>
        </p:spPr>
      </p:pic>
      <p:pic>
        <p:nvPicPr>
          <p:cNvPr id="4" name="Image 11">
            <a:extLst>
              <a:ext uri="{FF2B5EF4-FFF2-40B4-BE49-F238E27FC236}">
                <a16:creationId xmlns:a16="http://schemas.microsoft.com/office/drawing/2014/main" id="{49AEE95B-8D80-CA58-383A-F752DF0CC8BF}"/>
              </a:ext>
            </a:extLst>
          </p:cNvPr>
          <p:cNvPicPr>
            <a:picLocks/>
          </p:cNvPicPr>
          <p:nvPr/>
        </p:nvPicPr>
        <p:blipFill>
          <a:blip r:embed="rId3" cstate="print"/>
          <a:stretch>
            <a:fillRect/>
          </a:stretch>
        </p:blipFill>
        <p:spPr>
          <a:xfrm>
            <a:off x="1052965" y="1587061"/>
            <a:ext cx="4732277" cy="2731891"/>
          </a:xfrm>
          <a:prstGeom prst="rect">
            <a:avLst/>
          </a:prstGeom>
        </p:spPr>
      </p:pic>
      <p:sp>
        <p:nvSpPr>
          <p:cNvPr id="8" name="TextBox 7">
            <a:extLst>
              <a:ext uri="{FF2B5EF4-FFF2-40B4-BE49-F238E27FC236}">
                <a16:creationId xmlns:a16="http://schemas.microsoft.com/office/drawing/2014/main" id="{1D8FDB5B-81DB-90EF-6963-685EA80F704B}"/>
              </a:ext>
            </a:extLst>
          </p:cNvPr>
          <p:cNvSpPr txBox="1"/>
          <p:nvPr/>
        </p:nvSpPr>
        <p:spPr>
          <a:xfrm>
            <a:off x="23099" y="4631101"/>
            <a:ext cx="6096000" cy="892552"/>
          </a:xfrm>
          <a:prstGeom prst="rect">
            <a:avLst/>
          </a:prstGeom>
          <a:noFill/>
        </p:spPr>
        <p:txBody>
          <a:bodyPr wrap="square">
            <a:spAutoFit/>
          </a:bodyPr>
          <a:lstStyle/>
          <a:p>
            <a:pPr marL="1015365">
              <a:spcBef>
                <a:spcPts val="565"/>
              </a:spcBef>
              <a:buNone/>
            </a:pPr>
            <a:r>
              <a:rPr lang="en-US" sz="2000" dirty="0">
                <a:effectLst/>
                <a:latin typeface="Times New Roman" panose="02020603050405020304" pitchFamily="18" charset="0"/>
                <a:ea typeface="Times New Roman" panose="02020603050405020304" pitchFamily="18" charset="0"/>
              </a:rPr>
              <a:t>Performance</a:t>
            </a:r>
            <a:r>
              <a:rPr lang="en-US" sz="2000" spc="-2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Metrics</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for</a:t>
            </a:r>
            <a:r>
              <a:rPr lang="en-US" sz="2000" spc="-5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YOLOv3</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on</a:t>
            </a:r>
            <a:r>
              <a:rPr lang="en-US" sz="2000" spc="-4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Custom</a:t>
            </a:r>
            <a:r>
              <a:rPr lang="en-US" sz="2000" spc="-5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Pistol</a:t>
            </a:r>
            <a:r>
              <a:rPr lang="en-US" sz="2000" spc="-55" dirty="0">
                <a:effectLst/>
                <a:latin typeface="Times New Roman" panose="02020603050405020304" pitchFamily="18" charset="0"/>
                <a:ea typeface="Times New Roman" panose="02020603050405020304" pitchFamily="18" charset="0"/>
              </a:rPr>
              <a:t> </a:t>
            </a:r>
            <a:r>
              <a:rPr lang="en-US" sz="2000" spc="-10" dirty="0">
                <a:effectLst/>
                <a:latin typeface="Times New Roman" panose="02020603050405020304" pitchFamily="18" charset="0"/>
                <a:ea typeface="Times New Roman" panose="02020603050405020304" pitchFamily="18" charset="0"/>
              </a:rPr>
              <a:t>Dataset</a:t>
            </a:r>
            <a:endParaRPr lang="en-IN" sz="2000" dirty="0">
              <a:effectLst/>
              <a:latin typeface="Times New Roman" panose="02020603050405020304" pitchFamily="18" charset="0"/>
              <a:ea typeface="Times New Roman" panose="02020603050405020304" pitchFamily="18" charset="0"/>
            </a:endParaRPr>
          </a:p>
          <a:p>
            <a:pPr>
              <a:buNone/>
            </a:pPr>
            <a:r>
              <a:rPr lang="en-US" sz="12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pic>
        <p:nvPicPr>
          <p:cNvPr id="9" name="Image 12">
            <a:extLst>
              <a:ext uri="{FF2B5EF4-FFF2-40B4-BE49-F238E27FC236}">
                <a16:creationId xmlns:a16="http://schemas.microsoft.com/office/drawing/2014/main" id="{18E4CFF1-0361-B718-F198-72819C69A157}"/>
              </a:ext>
            </a:extLst>
          </p:cNvPr>
          <p:cNvPicPr>
            <a:picLocks/>
          </p:cNvPicPr>
          <p:nvPr/>
        </p:nvPicPr>
        <p:blipFill>
          <a:blip r:embed="rId4" cstate="print"/>
          <a:stretch>
            <a:fillRect/>
          </a:stretch>
        </p:blipFill>
        <p:spPr>
          <a:xfrm>
            <a:off x="6392078" y="1598582"/>
            <a:ext cx="4732277" cy="2708850"/>
          </a:xfrm>
          <a:prstGeom prst="rect">
            <a:avLst/>
          </a:prstGeom>
        </p:spPr>
      </p:pic>
      <p:sp>
        <p:nvSpPr>
          <p:cNvPr id="11" name="TextBox 10">
            <a:extLst>
              <a:ext uri="{FF2B5EF4-FFF2-40B4-BE49-F238E27FC236}">
                <a16:creationId xmlns:a16="http://schemas.microsoft.com/office/drawing/2014/main" id="{0727A400-D8A9-BA75-8BBF-20A30D5024C0}"/>
              </a:ext>
            </a:extLst>
          </p:cNvPr>
          <p:cNvSpPr txBox="1"/>
          <p:nvPr/>
        </p:nvSpPr>
        <p:spPr>
          <a:xfrm>
            <a:off x="5437239" y="4677267"/>
            <a:ext cx="6113712" cy="400110"/>
          </a:xfrm>
          <a:prstGeom prst="rect">
            <a:avLst/>
          </a:prstGeom>
          <a:noFill/>
        </p:spPr>
        <p:txBody>
          <a:bodyPr wrap="square">
            <a:spAutoFit/>
          </a:bodyPr>
          <a:lstStyle/>
          <a:p>
            <a:pPr marL="1701165" algn="just">
              <a:spcBef>
                <a:spcPts val="685"/>
              </a:spcBef>
              <a:buNone/>
            </a:pPr>
            <a:r>
              <a:rPr lang="en-US" sz="2000" dirty="0">
                <a:effectLst/>
                <a:latin typeface="Times New Roman" panose="02020603050405020304" pitchFamily="18" charset="0"/>
                <a:ea typeface="Times New Roman" panose="02020603050405020304" pitchFamily="18" charset="0"/>
              </a:rPr>
              <a:t>Performance</a:t>
            </a:r>
            <a:r>
              <a:rPr lang="en-US" sz="2000" spc="-5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at</a:t>
            </a:r>
            <a:r>
              <a:rPr lang="en-US" sz="2000" spc="-7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Varying</a:t>
            </a:r>
            <a:r>
              <a:rPr lang="en-US" sz="2000" spc="-60" dirty="0">
                <a:effectLst/>
                <a:latin typeface="Times New Roman" panose="02020603050405020304" pitchFamily="18" charset="0"/>
                <a:ea typeface="Times New Roman" panose="02020603050405020304" pitchFamily="18" charset="0"/>
              </a:rPr>
              <a:t> </a:t>
            </a:r>
            <a:r>
              <a:rPr lang="en-US" sz="2000" spc="-10" dirty="0">
                <a:effectLst/>
                <a:latin typeface="Times New Roman" panose="02020603050405020304" pitchFamily="18" charset="0"/>
                <a:ea typeface="Times New Roman" panose="02020603050405020304" pitchFamily="18" charset="0"/>
              </a:rPr>
              <a:t>Distances</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57179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4321184" y="313425"/>
            <a:ext cx="3549632" cy="1097280"/>
          </a:xfrm>
          <a:prstGeom prst="rect">
            <a:avLst/>
          </a:prstGeom>
          <a:noFill/>
          <a:ln/>
        </p:spPr>
        <p:txBody>
          <a:bodyPr wrap="square" rtlCol="0" anchor="ctr"/>
          <a:lstStyle/>
          <a:p>
            <a:r>
              <a:rPr lang="en-US" sz="4400" b="1" dirty="0">
                <a:solidFill>
                  <a:srgbClr val="000000"/>
                </a:solidFill>
                <a:latin typeface="Times New Roman" panose="02020603050405020304" pitchFamily="18" charset="0"/>
                <a:ea typeface="Optima" pitchFamily="34" charset="-122"/>
                <a:cs typeface="Times New Roman" panose="02020603050405020304" pitchFamily="18" charset="0"/>
              </a:rPr>
              <a:t>Conclusion</a:t>
            </a:r>
            <a:endParaRPr lang="en-US" sz="4400" dirty="0">
              <a:latin typeface="Times New Roman" panose="02020603050405020304" pitchFamily="18" charset="0"/>
              <a:cs typeface="Times New Roman" panose="02020603050405020304" pitchFamily="18" charset="0"/>
            </a:endParaRPr>
          </a:p>
        </p:txBody>
      </p:sp>
      <p:pic>
        <p:nvPicPr>
          <p:cNvPr id="6146" name="Picture 2" descr="How to write an excellent thesis conclusion [with examples] - Paperpile">
            <a:extLst>
              <a:ext uri="{FF2B5EF4-FFF2-40B4-BE49-F238E27FC236}">
                <a16:creationId xmlns:a16="http://schemas.microsoft.com/office/drawing/2014/main" id="{F4B6F6FA-F9C3-B073-5C13-C8B534F66E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5920" y="2166424"/>
            <a:ext cx="2316480" cy="282877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A9858F0-4335-C734-C439-A360FB1BA99E}"/>
              </a:ext>
            </a:extLst>
          </p:cNvPr>
          <p:cNvSpPr>
            <a:spLocks noChangeArrowheads="1"/>
          </p:cNvSpPr>
          <p:nvPr/>
        </p:nvSpPr>
        <p:spPr bwMode="auto">
          <a:xfrm rot="10800000" flipV="1">
            <a:off x="609599" y="3079672"/>
            <a:ext cx="7824959" cy="69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defTabSz="1219170" eaLnBrk="0" fontAlgn="base" hangingPunct="0">
              <a:spcBef>
                <a:spcPct val="0"/>
              </a:spcBef>
              <a:spcAft>
                <a:spcPct val="0"/>
              </a:spcAft>
            </a:pPr>
            <a:endParaRPr lang="en-US" altLang="en-US" sz="1870" dirty="0">
              <a:latin typeface="Times New Roman" panose="02020603050405020304" pitchFamily="18" charset="0"/>
              <a:cs typeface="Times New Roman" panose="02020603050405020304" pitchFamily="18" charset="0"/>
            </a:endParaRPr>
          </a:p>
          <a:p>
            <a:pPr defTabSz="1219170" eaLnBrk="0" fontAlgn="base" hangingPunct="0">
              <a:spcBef>
                <a:spcPct val="0"/>
              </a:spcBef>
              <a:spcAft>
                <a:spcPct val="0"/>
              </a:spcAft>
            </a:pPr>
            <a:endParaRPr lang="en-US" altLang="en-US" sz="187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44376D-CBDB-25CC-160D-515F0766089F}"/>
              </a:ext>
            </a:extLst>
          </p:cNvPr>
          <p:cNvSpPr txBox="1"/>
          <p:nvPr/>
        </p:nvSpPr>
        <p:spPr>
          <a:xfrm>
            <a:off x="351692" y="2075382"/>
            <a:ext cx="8612554" cy="3257815"/>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proposed system for automatic gun detection and recognition using deep learning demonstrates highly effective results in </a:t>
            </a:r>
            <a:r>
              <a:rPr lang="en-US" b="1" dirty="0">
                <a:latin typeface="Times New Roman" panose="02020603050405020304" pitchFamily="18" charset="0"/>
                <a:cs typeface="Times New Roman" panose="02020603050405020304" pitchFamily="18" charset="0"/>
              </a:rPr>
              <a:t>real-time surveillance applications</a:t>
            </a:r>
            <a:r>
              <a:rPr lang="en-US" dirty="0">
                <a:latin typeface="Times New Roman" panose="02020603050405020304" pitchFamily="18" charset="0"/>
                <a:cs typeface="Times New Roman" panose="02020603050405020304" pitchFamily="18" charset="0"/>
              </a:rPr>
              <a:t>. By utilizing the YOLOv3 (You Only Look Once) object detection algorithm, the model processes video frames </a:t>
            </a:r>
            <a:r>
              <a:rPr lang="en-US" b="1" dirty="0">
                <a:latin typeface="Times New Roman" panose="02020603050405020304" pitchFamily="18" charset="0"/>
                <a:cs typeface="Times New Roman" panose="02020603050405020304" pitchFamily="18" charset="0"/>
              </a:rPr>
              <a:t>to accurately identify handguns </a:t>
            </a:r>
            <a:r>
              <a:rPr lang="en-US" dirty="0">
                <a:latin typeface="Times New Roman" panose="02020603050405020304" pitchFamily="18" charset="0"/>
                <a:cs typeface="Times New Roman" panose="02020603050405020304" pitchFamily="18" charset="0"/>
              </a:rPr>
              <a:t>with remarkable precision and speed. Based on experimental evaluations referenced in our study, the YOLOv3-based model achieves an </a:t>
            </a:r>
            <a:r>
              <a:rPr lang="en-US" b="1" dirty="0">
                <a:latin typeface="Times New Roman" panose="02020603050405020304" pitchFamily="18" charset="0"/>
                <a:cs typeface="Times New Roman" panose="02020603050405020304" pitchFamily="18" charset="0"/>
              </a:rPr>
              <a:t>accuracy of approximately 98.98%</a:t>
            </a:r>
            <a:r>
              <a:rPr lang="en-US" dirty="0">
                <a:latin typeface="Times New Roman" panose="02020603050405020304" pitchFamily="18" charset="0"/>
                <a:cs typeface="Times New Roman" panose="02020603050405020304" pitchFamily="18" charset="0"/>
              </a:rPr>
              <a:t>, outperforming earlier models such as traditional CNNs and YOLOv2. This high level of accuracy confirms the robustness of deep learning for detecting guns in dynamic environments, </a:t>
            </a:r>
            <a:r>
              <a:rPr lang="en-US" b="1" dirty="0">
                <a:latin typeface="Times New Roman" panose="02020603050405020304" pitchFamily="18" charset="0"/>
                <a:cs typeface="Times New Roman" panose="02020603050405020304" pitchFamily="18" charset="0"/>
              </a:rPr>
              <a:t>offering a reliable solution </a:t>
            </a:r>
            <a:r>
              <a:rPr lang="en-US" dirty="0">
                <a:latin typeface="Times New Roman" panose="02020603050405020304" pitchFamily="18" charset="0"/>
                <a:cs typeface="Times New Roman" panose="02020603050405020304" pitchFamily="18" charset="0"/>
              </a:rPr>
              <a:t>for enhancing public safety and </a:t>
            </a:r>
            <a:r>
              <a:rPr lang="en-US" b="1" dirty="0">
                <a:latin typeface="Times New Roman" panose="02020603050405020304" pitchFamily="18" charset="0"/>
                <a:cs typeface="Times New Roman" panose="02020603050405020304" pitchFamily="18" charset="0"/>
              </a:rPr>
              <a:t>enabling early threat detection</a:t>
            </a:r>
            <a:r>
              <a:rPr lang="en-US" dirty="0">
                <a:latin typeface="Times New Roman" panose="02020603050405020304" pitchFamily="18" charset="0"/>
                <a:cs typeface="Times New Roman" panose="02020603050405020304" pitchFamily="18" charset="0"/>
              </a:rPr>
              <a:t>. The system can be integrated into existing CCTV infrastructures or smart surveillance robots, making it a scalable and impactful approach for real-world security challenges</a:t>
            </a:r>
            <a:r>
              <a:rPr lang="en-US" sz="1870" dirty="0">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BF328462-819F-C100-2DF4-30534AC7BF2A}"/>
              </a:ext>
            </a:extLst>
          </p:cNvPr>
          <p:cNvPicPr>
            <a:picLocks noChangeAspect="1"/>
          </p:cNvPicPr>
          <p:nvPr/>
        </p:nvPicPr>
        <p:blipFill>
          <a:blip r:embed="rId4"/>
          <a:stretch>
            <a:fillRect/>
          </a:stretch>
        </p:blipFill>
        <p:spPr>
          <a:xfrm>
            <a:off x="351692" y="372840"/>
            <a:ext cx="1252611" cy="978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F105-8EA8-E80A-A226-12194710AD0D}"/>
              </a:ext>
            </a:extLst>
          </p:cNvPr>
          <p:cNvSpPr>
            <a:spLocks noGrp="1"/>
          </p:cNvSpPr>
          <p:nvPr>
            <p:ph type="title"/>
          </p:nvPr>
        </p:nvSpPr>
        <p:spPr>
          <a:xfrm>
            <a:off x="4307194" y="197476"/>
            <a:ext cx="3577612" cy="1325160"/>
          </a:xfrm>
        </p:spPr>
        <p:txBody>
          <a:bodyPr/>
          <a:lstStyle/>
          <a:p>
            <a:r>
              <a:rPr lang="en-IN" b="1" dirty="0">
                <a:latin typeface="Times New Roman" panose="02020603050405020304" pitchFamily="18" charset="0"/>
                <a:cs typeface="Times New Roman" panose="02020603050405020304" pitchFamily="18" charset="0"/>
              </a:rPr>
              <a:t>Future</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Scope</a:t>
            </a:r>
          </a:p>
        </p:txBody>
      </p:sp>
      <p:sp>
        <p:nvSpPr>
          <p:cNvPr id="8" name="TextBox 7">
            <a:extLst>
              <a:ext uri="{FF2B5EF4-FFF2-40B4-BE49-F238E27FC236}">
                <a16:creationId xmlns:a16="http://schemas.microsoft.com/office/drawing/2014/main" id="{2C221D1E-89C0-7268-9D79-D8D335C07ACC}"/>
              </a:ext>
            </a:extLst>
          </p:cNvPr>
          <p:cNvSpPr txBox="1"/>
          <p:nvPr/>
        </p:nvSpPr>
        <p:spPr>
          <a:xfrm>
            <a:off x="687752" y="1822619"/>
            <a:ext cx="11160371" cy="1386533"/>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1. Real-time Surveillance Integration</a:t>
            </a:r>
          </a:p>
          <a:p>
            <a:pPr>
              <a:buFont typeface="Arial" panose="020B0604020202020204" pitchFamily="34" charset="0"/>
              <a:buChar char="•"/>
            </a:pPr>
            <a:r>
              <a:rPr lang="en-US" sz="1870" dirty="0">
                <a:latin typeface="Times New Roman" panose="02020603050405020304" pitchFamily="18" charset="0"/>
                <a:cs typeface="Times New Roman" panose="02020603050405020304" pitchFamily="18" charset="0"/>
              </a:rPr>
              <a:t>Integration with </a:t>
            </a:r>
            <a:r>
              <a:rPr lang="en-US" sz="1870" b="1" dirty="0">
                <a:latin typeface="Times New Roman" panose="02020603050405020304" pitchFamily="18" charset="0"/>
                <a:cs typeface="Times New Roman" panose="02020603050405020304" pitchFamily="18" charset="0"/>
              </a:rPr>
              <a:t>CCTV systems</a:t>
            </a:r>
            <a:r>
              <a:rPr lang="en-US" sz="1870" dirty="0">
                <a:latin typeface="Times New Roman" panose="02020603050405020304" pitchFamily="18" charset="0"/>
                <a:cs typeface="Times New Roman" panose="02020603050405020304" pitchFamily="18" charset="0"/>
              </a:rPr>
              <a:t> in public places (airports, schools, malls) for </a:t>
            </a:r>
            <a:r>
              <a:rPr lang="en-US" sz="1870" b="1" dirty="0">
                <a:latin typeface="Times New Roman" panose="02020603050405020304" pitchFamily="18" charset="0"/>
                <a:cs typeface="Times New Roman" panose="02020603050405020304" pitchFamily="18" charset="0"/>
              </a:rPr>
              <a:t>24/7 automated monitoring</a:t>
            </a:r>
            <a:r>
              <a:rPr lang="en-US" sz="187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870" dirty="0">
                <a:latin typeface="Times New Roman" panose="02020603050405020304" pitchFamily="18" charset="0"/>
                <a:cs typeface="Times New Roman" panose="02020603050405020304" pitchFamily="18" charset="0"/>
              </a:rPr>
              <a:t>Deployment in </a:t>
            </a:r>
            <a:r>
              <a:rPr lang="en-US" sz="1870" b="1" dirty="0">
                <a:latin typeface="Times New Roman" panose="02020603050405020304" pitchFamily="18" charset="0"/>
                <a:cs typeface="Times New Roman" panose="02020603050405020304" pitchFamily="18" charset="0"/>
              </a:rPr>
              <a:t>smart cities</a:t>
            </a:r>
            <a:r>
              <a:rPr lang="en-US" sz="1870" dirty="0">
                <a:latin typeface="Times New Roman" panose="02020603050405020304" pitchFamily="18" charset="0"/>
                <a:cs typeface="Times New Roman" panose="02020603050405020304" pitchFamily="18" charset="0"/>
              </a:rPr>
              <a:t> for proactive threat detection and response(Alert).</a:t>
            </a:r>
          </a:p>
          <a:p>
            <a:pPr>
              <a:buFont typeface="Arial" panose="020B0604020202020204" pitchFamily="34" charset="0"/>
              <a:buChar char="•"/>
            </a:pPr>
            <a:r>
              <a:rPr lang="en-US" sz="1870" dirty="0">
                <a:latin typeface="Times New Roman" panose="02020603050405020304" pitchFamily="18" charset="0"/>
                <a:cs typeface="Times New Roman" panose="02020603050405020304" pitchFamily="18" charset="0"/>
              </a:rPr>
              <a:t>Use of </a:t>
            </a:r>
            <a:r>
              <a:rPr lang="en-US" sz="1870" b="1" dirty="0">
                <a:latin typeface="Times New Roman" panose="02020603050405020304" pitchFamily="18" charset="0"/>
                <a:cs typeface="Times New Roman" panose="02020603050405020304" pitchFamily="18" charset="0"/>
              </a:rPr>
              <a:t>edge AI devices</a:t>
            </a:r>
            <a:r>
              <a:rPr lang="en-US" sz="1870" dirty="0">
                <a:latin typeface="Times New Roman" panose="02020603050405020304" pitchFamily="18" charset="0"/>
                <a:cs typeface="Times New Roman" panose="02020603050405020304" pitchFamily="18" charset="0"/>
              </a:rPr>
              <a:t> (like NVIDIA Jetson, Google Coral) to reduce latency and run detection offline.</a:t>
            </a:r>
          </a:p>
        </p:txBody>
      </p:sp>
      <p:sp>
        <p:nvSpPr>
          <p:cNvPr id="10" name="TextBox 9">
            <a:extLst>
              <a:ext uri="{FF2B5EF4-FFF2-40B4-BE49-F238E27FC236}">
                <a16:creationId xmlns:a16="http://schemas.microsoft.com/office/drawing/2014/main" id="{1854A29C-E3CA-B27F-D934-EC5C8421E050}"/>
              </a:ext>
            </a:extLst>
          </p:cNvPr>
          <p:cNvSpPr txBox="1"/>
          <p:nvPr/>
        </p:nvSpPr>
        <p:spPr>
          <a:xfrm>
            <a:off x="726829" y="3429000"/>
            <a:ext cx="9972432" cy="1098762"/>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2. Integration with Law Enforcement Systems</a:t>
            </a:r>
          </a:p>
          <a:p>
            <a:pPr>
              <a:buFont typeface="Arial" panose="020B0604020202020204" pitchFamily="34" charset="0"/>
              <a:buChar char="•"/>
            </a:pPr>
            <a:r>
              <a:rPr lang="en-US" sz="1870" dirty="0">
                <a:latin typeface="Times New Roman" panose="02020603050405020304" pitchFamily="18" charset="0"/>
                <a:cs typeface="Times New Roman" panose="02020603050405020304" pitchFamily="18" charset="0"/>
              </a:rPr>
              <a:t>Automated alert systems to </a:t>
            </a:r>
            <a:r>
              <a:rPr lang="en-US" sz="1870" b="1" dirty="0">
                <a:latin typeface="Times New Roman" panose="02020603050405020304" pitchFamily="18" charset="0"/>
                <a:cs typeface="Times New Roman" panose="02020603050405020304" pitchFamily="18" charset="0"/>
              </a:rPr>
              <a:t>notify police control rooms</a:t>
            </a:r>
            <a:r>
              <a:rPr lang="en-US" sz="1870" dirty="0">
                <a:latin typeface="Times New Roman" panose="02020603050405020304" pitchFamily="18" charset="0"/>
                <a:cs typeface="Times New Roman" panose="02020603050405020304" pitchFamily="18" charset="0"/>
              </a:rPr>
              <a:t> in real-time.</a:t>
            </a:r>
          </a:p>
          <a:p>
            <a:pPr>
              <a:buFont typeface="Arial" panose="020B0604020202020204" pitchFamily="34" charset="0"/>
              <a:buChar char="•"/>
            </a:pPr>
            <a:r>
              <a:rPr lang="en-US" sz="1870" dirty="0">
                <a:latin typeface="Times New Roman" panose="02020603050405020304" pitchFamily="18" charset="0"/>
                <a:cs typeface="Times New Roman" panose="02020603050405020304" pitchFamily="18" charset="0"/>
              </a:rPr>
              <a:t>Automatic generation of </a:t>
            </a:r>
            <a:r>
              <a:rPr lang="en-US" sz="1870" b="1" dirty="0">
                <a:latin typeface="Times New Roman" panose="02020603050405020304" pitchFamily="18" charset="0"/>
                <a:cs typeface="Times New Roman" panose="02020603050405020304" pitchFamily="18" charset="0"/>
              </a:rPr>
              <a:t>evidence reports</a:t>
            </a:r>
            <a:r>
              <a:rPr lang="en-US" sz="1870" dirty="0">
                <a:latin typeface="Times New Roman" panose="02020603050405020304" pitchFamily="18" charset="0"/>
                <a:cs typeface="Times New Roman" panose="02020603050405020304" pitchFamily="18" charset="0"/>
              </a:rPr>
              <a:t> with timestamped detection and bounding boxes.</a:t>
            </a:r>
          </a:p>
        </p:txBody>
      </p:sp>
      <p:sp>
        <p:nvSpPr>
          <p:cNvPr id="12" name="TextBox 11">
            <a:extLst>
              <a:ext uri="{FF2B5EF4-FFF2-40B4-BE49-F238E27FC236}">
                <a16:creationId xmlns:a16="http://schemas.microsoft.com/office/drawing/2014/main" id="{B4C88A03-6719-DCA9-5547-76A430DF0F66}"/>
              </a:ext>
            </a:extLst>
          </p:cNvPr>
          <p:cNvSpPr txBox="1"/>
          <p:nvPr/>
        </p:nvSpPr>
        <p:spPr>
          <a:xfrm>
            <a:off x="687751" y="4792025"/>
            <a:ext cx="10558587" cy="1098762"/>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3. Crowd Behavior &amp; Threat Level Analysis</a:t>
            </a:r>
          </a:p>
          <a:p>
            <a:pPr>
              <a:buFont typeface="Arial" panose="020B0604020202020204" pitchFamily="34" charset="0"/>
              <a:buChar char="•"/>
            </a:pPr>
            <a:r>
              <a:rPr lang="en-US" sz="1870" dirty="0">
                <a:latin typeface="Times New Roman" panose="02020603050405020304" pitchFamily="18" charset="0"/>
                <a:cs typeface="Times New Roman" panose="02020603050405020304" pitchFamily="18" charset="0"/>
              </a:rPr>
              <a:t>Combining weapon detection with </a:t>
            </a:r>
            <a:r>
              <a:rPr lang="en-US" sz="1870" b="1" dirty="0">
                <a:latin typeface="Times New Roman" panose="02020603050405020304" pitchFamily="18" charset="0"/>
                <a:cs typeface="Times New Roman" panose="02020603050405020304" pitchFamily="18" charset="0"/>
              </a:rPr>
              <a:t>human pose estimation</a:t>
            </a:r>
            <a:r>
              <a:rPr lang="en-US" sz="1870" dirty="0">
                <a:latin typeface="Times New Roman" panose="02020603050405020304" pitchFamily="18" charset="0"/>
                <a:cs typeface="Times New Roman" panose="02020603050405020304" pitchFamily="18" charset="0"/>
              </a:rPr>
              <a:t> to detect threatening gestures (e.g., pointing a gun).</a:t>
            </a:r>
          </a:p>
        </p:txBody>
      </p:sp>
      <p:pic>
        <p:nvPicPr>
          <p:cNvPr id="13" name="Picture 12">
            <a:extLst>
              <a:ext uri="{FF2B5EF4-FFF2-40B4-BE49-F238E27FC236}">
                <a16:creationId xmlns:a16="http://schemas.microsoft.com/office/drawing/2014/main" id="{BF328462-819F-C100-2DF4-30534AC7BF2A}"/>
              </a:ext>
            </a:extLst>
          </p:cNvPr>
          <p:cNvPicPr>
            <a:picLocks noChangeAspect="1"/>
          </p:cNvPicPr>
          <p:nvPr/>
        </p:nvPicPr>
        <p:blipFill>
          <a:blip r:embed="rId2"/>
          <a:stretch>
            <a:fillRect/>
          </a:stretch>
        </p:blipFill>
        <p:spPr>
          <a:xfrm>
            <a:off x="446617" y="370831"/>
            <a:ext cx="1252611" cy="978450"/>
          </a:xfrm>
          <a:prstGeom prst="rect">
            <a:avLst/>
          </a:prstGeom>
        </p:spPr>
      </p:pic>
    </p:spTree>
    <p:extLst>
      <p:ext uri="{BB962C8B-B14F-4D97-AF65-F5344CB8AC3E}">
        <p14:creationId xmlns:p14="http://schemas.microsoft.com/office/powerpoint/2010/main" val="1734704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214560"/>
            <a:ext cx="10515240" cy="860760"/>
          </a:xfrm>
          <a:prstGeom prst="rect">
            <a:avLst/>
          </a:prstGeom>
          <a:noFill/>
          <a:ln w="0">
            <a:noFill/>
          </a:ln>
        </p:spPr>
        <p:txBody>
          <a:bodyPr lIns="91440" tIns="45720" rIns="91440" bIns="45720" anchor="ctr">
            <a:normAutofit/>
          </a:bodyPr>
          <a:lstStyle/>
          <a:p>
            <a:pPr indent="0" algn="ctr" defTabSz="914400">
              <a:lnSpc>
                <a:spcPct val="90000"/>
              </a:lnSpc>
              <a:buNone/>
            </a:pPr>
            <a:r>
              <a:rPr lang="en-US" sz="4400" b="1" strike="noStrike" spc="-1" dirty="0">
                <a:solidFill>
                  <a:schemeClr val="dk1"/>
                </a:solidFill>
                <a:latin typeface="Times New Roman"/>
              </a:rPr>
              <a:t>References</a:t>
            </a:r>
            <a:endParaRPr lang="en-US" sz="4400" b="0" strike="noStrike" spc="-1" dirty="0">
              <a:solidFill>
                <a:schemeClr val="dk1"/>
              </a:solidFill>
              <a:latin typeface="Calibri"/>
            </a:endParaRPr>
          </a:p>
        </p:txBody>
      </p:sp>
      <p:sp>
        <p:nvSpPr>
          <p:cNvPr id="79" name="TextBox 78"/>
          <p:cNvSpPr txBox="1"/>
          <p:nvPr/>
        </p:nvSpPr>
        <p:spPr>
          <a:xfrm>
            <a:off x="695520" y="1075320"/>
            <a:ext cx="10738440" cy="5568120"/>
          </a:xfrm>
          <a:prstGeom prst="rect">
            <a:avLst/>
          </a:prstGeom>
          <a:noFill/>
          <a:ln w="0">
            <a:noFill/>
          </a:ln>
        </p:spPr>
        <p:txBody>
          <a:bodyPr lIns="90000" tIns="45000" rIns="90000" bIns="45000" anchor="t">
            <a:noAutofit/>
          </a:bodyPr>
          <a:lstStyle/>
          <a:p>
            <a:pPr marL="342900" indent="-342900">
              <a:buClr>
                <a:srgbClr val="000000"/>
              </a:buClr>
              <a:buSzPct val="45000"/>
              <a:buFont typeface="Wingdings" panose="05000000000000000000" pitchFamily="2" charset="2"/>
              <a:buChar char="q"/>
              <a:tabLst>
                <a:tab pos="408240" algn="l"/>
              </a:tabLst>
            </a:pPr>
            <a:r>
              <a:rPr lang="en-US" sz="1870" dirty="0">
                <a:latin typeface="Times New Roman" panose="02020603050405020304" pitchFamily="18" charset="0"/>
                <a:cs typeface="Times New Roman" panose="02020603050405020304" pitchFamily="18" charset="0"/>
              </a:rPr>
              <a:t>Anjum, M. Rizwan. "Weapon Detection Using YOLO V3 for Smart Surveillance System." (2021).</a:t>
            </a:r>
            <a:endParaRPr lang="en-US" sz="1870" dirty="0">
              <a:latin typeface="Times New Roman" panose="02020603050405020304" pitchFamily="18" charset="0"/>
              <a:cs typeface="Times New Roman" panose="02020603050405020304" pitchFamily="18" charset="0"/>
              <a:hlinkClick r:id="rId2"/>
            </a:endParaRPr>
          </a:p>
          <a:p>
            <a:pPr>
              <a:buClr>
                <a:srgbClr val="000000"/>
              </a:buClr>
              <a:buSzPct val="45000"/>
              <a:tabLst>
                <a:tab pos="408240" algn="l"/>
              </a:tabLst>
            </a:pPr>
            <a:r>
              <a:rPr lang="en-IN" dirty="0">
                <a:hlinkClick r:id="rId3"/>
              </a:rPr>
              <a:t>Weapon Detection Using YOLOv3 for Smart Surveillance System | researchgate.net</a:t>
            </a:r>
            <a:endParaRPr lang="en-IN" dirty="0"/>
          </a:p>
          <a:p>
            <a:pPr>
              <a:buClr>
                <a:srgbClr val="000000"/>
              </a:buClr>
              <a:buSzPct val="45000"/>
              <a:tabLst>
                <a:tab pos="408240" algn="l"/>
              </a:tabLst>
            </a:pPr>
            <a:endParaRPr lang="en-US" sz="1870" dirty="0">
              <a:latin typeface="Times New Roman" panose="02020603050405020304" pitchFamily="18" charset="0"/>
              <a:cs typeface="Times New Roman" panose="02020603050405020304" pitchFamily="18" charset="0"/>
            </a:endParaRPr>
          </a:p>
          <a:p>
            <a:pPr marL="342900" indent="-342900">
              <a:buClr>
                <a:srgbClr val="000000"/>
              </a:buClr>
              <a:buSzPct val="45000"/>
              <a:buFont typeface="Wingdings" panose="05000000000000000000" pitchFamily="2" charset="2"/>
              <a:buChar char="q"/>
              <a:tabLst>
                <a:tab pos="408240" algn="l"/>
              </a:tabLst>
            </a:pPr>
            <a:r>
              <a:rPr lang="en-IN" sz="1870" dirty="0">
                <a:latin typeface="Times New Roman" panose="02020603050405020304" pitchFamily="18" charset="0"/>
                <a:cs typeface="Times New Roman" panose="02020603050405020304" pitchFamily="18" charset="0"/>
              </a:rPr>
              <a:t>Warsi, M. Abdullah, M. N. Husen, M. Yahya, S. Khan, and N. Jawaid, “Gun detection system using YOLOv3,” in Proceedings of the 2019 IEEE International Conference on Smart Instrumentation, Measurement and Application (ICSIMA), pp. 1–4, IEEE, Kuala Lumpur, Malaysia, August 2019.</a:t>
            </a:r>
          </a:p>
          <a:p>
            <a:pPr>
              <a:buClr>
                <a:srgbClr val="000000"/>
              </a:buClr>
              <a:buSzPct val="45000"/>
              <a:tabLst>
                <a:tab pos="408240" algn="l"/>
              </a:tabLst>
            </a:pPr>
            <a:r>
              <a:rPr lang="en-IN" sz="1870" dirty="0">
                <a:latin typeface="Times New Roman" panose="02020603050405020304" pitchFamily="18" charset="0"/>
                <a:cs typeface="Times New Roman" panose="02020603050405020304" pitchFamily="18" charset="0"/>
                <a:hlinkClick r:id="rId4"/>
              </a:rPr>
              <a:t>Gun Detection System Using Yolov3 | IEEE Conference Publication | IEEE Xplore</a:t>
            </a:r>
            <a:endParaRPr lang="en-IN" sz="1870" dirty="0">
              <a:latin typeface="Times New Roman" panose="02020603050405020304" pitchFamily="18" charset="0"/>
              <a:cs typeface="Times New Roman" panose="02020603050405020304" pitchFamily="18" charset="0"/>
            </a:endParaRPr>
          </a:p>
          <a:p>
            <a:pPr>
              <a:buClr>
                <a:srgbClr val="000000"/>
              </a:buClr>
              <a:buSzPct val="45000"/>
              <a:tabLst>
                <a:tab pos="408240" algn="l"/>
              </a:tabLst>
            </a:pPr>
            <a:endParaRPr lang="en-IN" sz="1870" dirty="0">
              <a:latin typeface="Times New Roman" panose="02020603050405020304" pitchFamily="18" charset="0"/>
              <a:cs typeface="Times New Roman" panose="02020603050405020304" pitchFamily="18" charset="0"/>
            </a:endParaRPr>
          </a:p>
          <a:p>
            <a:pPr marL="342900" indent="-342900">
              <a:buClr>
                <a:srgbClr val="000000"/>
              </a:buClr>
              <a:buSzPct val="45000"/>
              <a:buFont typeface="Wingdings" panose="05000000000000000000" pitchFamily="2" charset="2"/>
              <a:buChar char="q"/>
              <a:tabLst>
                <a:tab pos="408240" algn="l"/>
              </a:tabLst>
            </a:pPr>
            <a:r>
              <a:rPr lang="en-IN" sz="1870" dirty="0">
                <a:latin typeface="Times New Roman" panose="02020603050405020304" pitchFamily="18" charset="0"/>
                <a:cs typeface="Times New Roman" panose="02020603050405020304" pitchFamily="18" charset="0"/>
              </a:rPr>
              <a:t>I-SMAC (IoT in Social, Mobile, Analytics and Cloud)(I SMAC), pp. 84–86, IEEE, </a:t>
            </a:r>
            <a:r>
              <a:rPr lang="en-IN" sz="1870" dirty="0" err="1">
                <a:latin typeface="Times New Roman" panose="02020603050405020304" pitchFamily="18" charset="0"/>
                <a:cs typeface="Times New Roman" panose="02020603050405020304" pitchFamily="18" charset="0"/>
              </a:rPr>
              <a:t>Palladam</a:t>
            </a:r>
            <a:r>
              <a:rPr lang="en-IN" sz="1870" dirty="0">
                <a:latin typeface="Times New Roman" panose="02020603050405020304" pitchFamily="18" charset="0"/>
                <a:cs typeface="Times New Roman" panose="02020603050405020304" pitchFamily="18" charset="0"/>
              </a:rPr>
              <a:t>, India, December 2019.</a:t>
            </a:r>
          </a:p>
          <a:p>
            <a:pPr>
              <a:buClr>
                <a:srgbClr val="000000"/>
              </a:buClr>
              <a:buSzPct val="45000"/>
              <a:tabLst>
                <a:tab pos="408240" algn="l"/>
              </a:tabLst>
            </a:pPr>
            <a:r>
              <a:rPr lang="en-US" sz="1870" dirty="0">
                <a:latin typeface="Times New Roman" panose="02020603050405020304" pitchFamily="18" charset="0"/>
                <a:cs typeface="Times New Roman" panose="02020603050405020304" pitchFamily="18" charset="0"/>
                <a:hlinkClick r:id="rId5"/>
              </a:rPr>
              <a:t>Weapon Detection using Yolov4, CNN</a:t>
            </a:r>
            <a:endParaRPr lang="en-US" sz="1870" dirty="0">
              <a:latin typeface="Times New Roman" panose="02020603050405020304" pitchFamily="18" charset="0"/>
              <a:cs typeface="Times New Roman" panose="02020603050405020304" pitchFamily="18" charset="0"/>
            </a:endParaRPr>
          </a:p>
          <a:p>
            <a:pPr>
              <a:buClr>
                <a:srgbClr val="000000"/>
              </a:buClr>
              <a:buSzPct val="45000"/>
              <a:tabLst>
                <a:tab pos="408240" algn="l"/>
              </a:tabLst>
            </a:pPr>
            <a:endParaRPr lang="en-US" sz="1870" dirty="0">
              <a:latin typeface="Times New Roman" panose="02020603050405020304" pitchFamily="18" charset="0"/>
              <a:cs typeface="Times New Roman" panose="02020603050405020304" pitchFamily="18" charset="0"/>
            </a:endParaRPr>
          </a:p>
          <a:p>
            <a:pPr marL="342900" indent="-342900">
              <a:buClr>
                <a:srgbClr val="000000"/>
              </a:buClr>
              <a:buSzPct val="45000"/>
              <a:buFont typeface="Wingdings" panose="05000000000000000000" pitchFamily="2" charset="2"/>
              <a:buChar char="q"/>
              <a:tabLst>
                <a:tab pos="408240" algn="l"/>
              </a:tabLst>
            </a:pPr>
            <a:r>
              <a:rPr lang="en-US" sz="1870" dirty="0">
                <a:latin typeface="Times New Roman" panose="02020603050405020304" pitchFamily="18" charset="0"/>
                <a:cs typeface="Times New Roman" panose="02020603050405020304" pitchFamily="18" charset="0"/>
              </a:rPr>
              <a:t>K.-E. Ko and K.-B. Sim, “Deep convolutional framework for abnormal behavior detection in a smart surveillance system,” Engineering Applications of Artificial Intelligence, vol. 67, pp. 226–234, 2018.</a:t>
            </a:r>
            <a:endParaRPr lang="en-IN" sz="1870" dirty="0">
              <a:latin typeface="Times New Roman" panose="02020603050405020304" pitchFamily="18" charset="0"/>
              <a:cs typeface="Times New Roman" panose="02020603050405020304" pitchFamily="18" charset="0"/>
            </a:endParaRPr>
          </a:p>
          <a:p>
            <a:pPr>
              <a:buClr>
                <a:srgbClr val="000000"/>
              </a:buClr>
              <a:buSzPct val="45000"/>
              <a:tabLst>
                <a:tab pos="408240" algn="l"/>
              </a:tabLst>
            </a:pPr>
            <a:r>
              <a:rPr lang="en-US" sz="1870" dirty="0">
                <a:latin typeface="Times New Roman" panose="02020603050405020304" pitchFamily="18" charset="0"/>
                <a:cs typeface="Times New Roman" panose="02020603050405020304" pitchFamily="18" charset="0"/>
                <a:hlinkClick r:id="rId6"/>
              </a:rPr>
              <a:t>Deep convolutional framework for abnormal behavior detection in a smart surveillance system - ScienceDirect</a:t>
            </a:r>
            <a:endParaRPr lang="en-IN" sz="187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F328462-819F-C100-2DF4-30534AC7BF2A}"/>
              </a:ext>
            </a:extLst>
          </p:cNvPr>
          <p:cNvPicPr>
            <a:picLocks noChangeAspect="1"/>
          </p:cNvPicPr>
          <p:nvPr/>
        </p:nvPicPr>
        <p:blipFill>
          <a:blip r:embed="rId7"/>
          <a:stretch>
            <a:fillRect/>
          </a:stretch>
        </p:blipFill>
        <p:spPr>
          <a:xfrm>
            <a:off x="211774" y="155715"/>
            <a:ext cx="1252611" cy="9784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p:nvPr>
        </p:nvSpPr>
        <p:spPr>
          <a:xfrm>
            <a:off x="720000" y="1112040"/>
            <a:ext cx="10515240" cy="3927960"/>
          </a:xfrm>
          <a:prstGeom prst="rect">
            <a:avLst/>
          </a:prstGeom>
          <a:noFill/>
          <a:ln w="0">
            <a:noFill/>
          </a:ln>
        </p:spPr>
        <p:txBody>
          <a:bodyPr lIns="91440" tIns="45720" rIns="91440" bIns="45720" anchor="t">
            <a:noAutofit/>
          </a:bodyPr>
          <a:lstStyle/>
          <a:p>
            <a:pPr marL="914400" indent="0" algn="ctr" defTabSz="914400">
              <a:lnSpc>
                <a:spcPct val="250000"/>
              </a:lnSpc>
              <a:spcBef>
                <a:spcPts val="204"/>
              </a:spcBef>
              <a:buNone/>
              <a:tabLst>
                <a:tab pos="0" algn="l"/>
              </a:tabLst>
            </a:pPr>
            <a:r>
              <a:rPr lang="en-IN" sz="7200" b="0" strike="noStrike" spc="-1">
                <a:solidFill>
                  <a:schemeClr val="dk1"/>
                </a:solidFill>
                <a:latin typeface="Times New Roman"/>
                <a:ea typeface="Arial MT"/>
              </a:rPr>
              <a:t>THANK YOU!</a:t>
            </a:r>
            <a:endParaRPr lang="en-US" sz="7200" b="0" strike="noStrike" spc="-1" dirty="0">
              <a:solidFill>
                <a:schemeClr val="dk1"/>
              </a:solidFill>
              <a:latin typeface="Calibri"/>
            </a:endParaRPr>
          </a:p>
        </p:txBody>
      </p:sp>
      <p:pic>
        <p:nvPicPr>
          <p:cNvPr id="2" name="Picture 1">
            <a:extLst>
              <a:ext uri="{FF2B5EF4-FFF2-40B4-BE49-F238E27FC236}">
                <a16:creationId xmlns:a16="http://schemas.microsoft.com/office/drawing/2014/main" id="{BF328462-819F-C100-2DF4-30534AC7BF2A}"/>
              </a:ext>
            </a:extLst>
          </p:cNvPr>
          <p:cNvPicPr>
            <a:picLocks noChangeAspect="1"/>
          </p:cNvPicPr>
          <p:nvPr/>
        </p:nvPicPr>
        <p:blipFill>
          <a:blip r:embed="rId2"/>
          <a:stretch>
            <a:fillRect/>
          </a:stretch>
        </p:blipFill>
        <p:spPr>
          <a:xfrm>
            <a:off x="389694" y="485744"/>
            <a:ext cx="1252611" cy="978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1088</TotalTime>
  <Words>731</Words>
  <Application>Microsoft Office PowerPoint</Application>
  <PresentationFormat>Widescreen</PresentationFormat>
  <Paragraphs>62</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Title: Automatic Gun Detection and Recognition using Deep Learning </vt:lpstr>
      <vt:lpstr>Abstract</vt:lpstr>
      <vt:lpstr>  Requirements for the Proposed Project</vt:lpstr>
      <vt:lpstr> Proposed Methodology</vt:lpstr>
      <vt:lpstr> Results and Analysis</vt:lpstr>
      <vt:lpstr> </vt:lpstr>
      <vt:lpstr>PowerPoint Presentation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subject/>
  <dc:creator>GLWEC</dc:creator>
  <dc:description/>
  <cp:lastModifiedBy>Sri Varshini C</cp:lastModifiedBy>
  <cp:revision>105</cp:revision>
  <dcterms:created xsi:type="dcterms:W3CDTF">2024-04-10T07:57:55Z</dcterms:created>
  <dcterms:modified xsi:type="dcterms:W3CDTF">2025-08-13T14:27:16Z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12</vt:i4>
  </property>
</Properties>
</file>